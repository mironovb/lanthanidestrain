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full walkthrough for Kostas. Order: problem, data, how models are tested, what the 3D model is, results, why the 3D signal is capped, the chemistry benchmark, what actually moves the score, next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Industrial framing: solvent extraction is the route; adjacent pairs (Nd/Pr for magnets, Dy/Tb) are the expensive ones. The schematic defines the exact predicted quantity — walk it slowly. R2 = 0 means predicting the average separation for every pair; even the sign of the separation is nontrivial (best models reach 67% sign accuracy).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SAFE is DOI-linked and condition-resolved; replicates across labs are real replicates (later this gives the noise floor). Pm does not occur in nature -&gt; 14 lanthanides. Architector builds a 3D guess of the actual extraction complex; GFN2-xTB relaxes it; convergence is verified with an independent force check. 956 unique complexes back 4,746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grouped: extractants repeat across rows; a random row split would let the model memorise the ligand — leakage. Why repeats: one grouping is one lottery draw. Why ensembles/seeds: single networks are noisy; per-seed sd of a paired difference is 0.0285, so confirmatory comparisons use 24-32 seeds. Out-of-fold = the union of held-out predictions.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conventional ('2D': they see the molecular graph and conditions, no 3D structure): gradient-boosted trees on the 746 columns; a neural network on fingerprints. The third is ours and is introduced properly on the next slide. All three predict log D per row; separations come from differencing predictions within a block. A combination fits per-extractant weights over the three predictions, on the separation vectors themselves (nested, held-out).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Vietoris-Rips = the mesh built by rule 2+3; message passing = each atom repeatedly updates its state from its neighbours along edges and triangles; after 3 rounds each atom has 'seen' its 3-hop environment. Pooling is metal-centred: a soft histogram of distances to the metal — plain averaging over ~100 atoms would wash out the 0.01-A shell changes that carry the signal. Without that pooling the model cannot even tell which lanthanide it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Loss functions mattered more than architectures: the tree model at RMSE scores 0.14; switching to a quantile loss and re-tuning gives 0.278. The 3D model's contrast-weighted loss gives 0.266. Control row: giving the tree model 84 3D-derived tabular descriptors (donor distances, angles, charges) makes it WORSE (-0.02) — so the 3D model's contribution is not replicable by cheap descriptors; in the combination the fitted weight on the 3D model is the largest (0.46). Caveats aloud: under stricter condition blocking the 3D margin halves to +0.010; the 0.313 is exploratory — all clean held-out partitions have been consumed; a fresh split is the next step before any publication-grade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figure: these are the method's own published parameters, plotted against atomic number. Every lanthanide between Ce and Lu was never fitted — it is the straight line. f-electrons are frozen into the core. So to this method, 'which lanthanide' is a single number that slides along a line. Consequence for ML: any structure it produces can encode the metal only through that one number — and we already give the models that number as a column (the experimental ionic radius). Empirical check: we trained eight different 3D architectures; their predictions are statistically identical (correlation 0.986 across architectures = the seed-to-seed correlation of one architecture).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the observable slowly — it is ours. Take ONE ligand cage, keep it fixed, put each of the 14 lanthanides in, re-relax, measure the mean metal-donor distance, plot against the EXPERIMENTAL radius of that ion. Slope 1.00 = the bond tracks reality. This isolates exactly the physics adjacent-pair selectivity depends on. The figure is one real ligand of the 71 measured; both methods run through the identical protocol, same binary.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Population version of the previous slide: one dot per ligand. GFN2 mean 0.41 — the bond shrinks 2.5x too little — and scatter is mostly noise (only 23% of its ligand-to-ligand variation reproduces; 96% for g-xTB). g-xTB (Grimme group 2025, f-electrons explicit) improves 71 of 71 ligands, p = 5e-52; replicated in solvent. Why this is new: published benchmarks asked 'are the bond lengths of individual complexes close to DFT or X-ray?' (Bursch 2017: 80 complexes vs X-ray; Zhang 2026: vs DFT). Nobody asked 'walking La-&gt;Lu inside one ligand, does the bond shrink by the RIGHT AMOUNT vs experiment?' — a systematic trend error that per-complex statistics cannot see. And g-xTB's own preprint validates energies only, so its lanthanide geometries were untested until now. Obligation: read the Ln-xTB paper in full and run it through this same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decisive experiment: re-optimise all 956 complexes with g-xTB (structures now carry correct contraction physics), retrain everything matched — score does not move (+0.004). Cleaning conformer noise 455x: slightly worse. So structure quality is not the bottleneck. What did pay, every time: aligning the training loss with the scored quantity — the quantile loss on the trees (+0.136 cumulative) and up-weighting the within-block contrast term for the 3D model (+0.014-0.015, replicated on two different architectures with disjoint random seeds). Ceiling: repeated measurements of the same separation agree to 0.153 on a spread of 0.224 -&gt; labels support R2 ~ 0.53; we are at 0.31. The rest is likely in conditions and in predicting pairs directly — not in geometry (~1% of pair variance).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Suggested call order: S2 (2 min), S7 (5), S8-S10 (10), S11 (3), discussion. If he asks for the one-sentence version: the 3D model earns its place by correcting shared errors, the chemistry that limits it is now measured and publishable on its own, and the cheapest reliable gains were loss-function alignment.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60704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2E4A"/>
                </a:solidFill>
              </a:defRPr>
            </a:pPr>
            <a:r>
              <a:t>Predicting adjacent-lanthanide selectivity from 3D structure</a:t>
            </a:r>
          </a:p>
          <a:p>
            <a:pPr>
              <a:defRPr sz="2000" b="0">
                <a:solidFill>
                  <a:srgbClr val="52514E"/>
                </a:solidFill>
              </a:defRPr>
            </a:pPr>
            <a:r>
              <a:t>What the data supports, and what limits it</a:t>
            </a:r>
          </a:p>
          <a:p>
            <a:pPr>
              <a:defRPr sz="1000" b="0">
                <a:solidFill>
                  <a:srgbClr val="52514E"/>
                </a:solidFill>
              </a:defRPr>
            </a:pPr>
          </a:p>
          <a:p>
            <a:pPr>
              <a:defRPr sz="1400" b="0">
                <a:solidFill>
                  <a:srgbClr val="52514E"/>
                </a:solidFill>
              </a:defRPr>
            </a:pPr>
            <a:r>
              <a:t>Bogdan Mironov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The problem: separating neighbouring lanthanides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440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50">
                <a:solidFill>
                  <a:srgbClr val="101214"/>
                </a:solidFill>
              </a:defRPr>
            </a:pPr>
            <a:r>
              <a:t>Rare earths are separated by liquid–liquid extraction with designed organic molecules (extractants). Neighbouring lanthanides are the hard case: their 3+ ions differ by ~0.013 Å in radius and in almost nothing else.</a:t>
            </a:r>
          </a:p>
          <a:p>
            <a:pPr>
              <a:spcAft>
                <a:spcPts val="700"/>
              </a:spcAft>
              <a:defRPr sz="1450">
                <a:solidFill>
                  <a:srgbClr val="101214"/>
                </a:solidFill>
              </a:defRPr>
            </a:pPr>
            <a:r>
              <a:t>We predict how well an extractant separates two neighbouring lanthanides — the difference in log D under identical conditions:</a:t>
            </a:r>
          </a:p>
        </p:txBody>
      </p:sp>
      <p:pic>
        <p:nvPicPr>
          <p:cNvPr id="4" name="Picture 3" descr="g1_pai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87" y="2880360"/>
            <a:ext cx="9875520" cy="310373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Data: a curated literature database, then quantum-chemistry structures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25880"/>
          <a:ext cx="1088136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595360"/>
              </a:tblGrid>
              <a:tr h="356616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SAFE database: 48,138 measurements · 31 elements · 181 publications, every row DOI-linked with full conditions (extractant, acid, diluent, concentrations, temperature)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modelled subset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4,746 measurements · 162 extractants · 14 lanthanides · target: log D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834640"/>
          <a:ext cx="10881360" cy="1335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743200"/>
                <a:gridCol w="5029200"/>
              </a:tblGrid>
              <a:tr h="333756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/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assemble the extraction complex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Architector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3D structure guess per (extractant, lanthanide, nitrate/water fill), coordination number 8–9</a:t>
                      </a:r>
                    </a:p>
                  </a:txBody>
                  <a:tcPr/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relax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GFN2-xTB (tight-binding QM), water solvation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956 unique optimised complexes, convergence force-checked</a:t>
                      </a:r>
                    </a:p>
                  </a:txBody>
                  <a:tcPr/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descriptors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RDKit, fingerprints, conditions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746-column table per measurement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How every number in this talk is evaluated</a:t>
            </a:r>
          </a:p>
        </p:txBody>
      </p:sp>
      <p:pic>
        <p:nvPicPr>
          <p:cNvPr id="3" name="Picture 2" descr="g2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487" y="1280160"/>
            <a:ext cx="10332720" cy="37312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Three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440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  <a:r>
              <a:t>Model 1 — gradient-boosted trees (CatBoost) on the 746 descriptor columns. No 3D input.</a:t>
            </a:r>
          </a:p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  <a:r>
              <a:t>Model 2 — a neural network on molecular fingerprints. No 3D input.</a:t>
            </a:r>
          </a:p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  <a:r>
              <a:t>Model 3 — a network that reads the optimised 3D structure of the extraction complex itself (next slide).</a:t>
            </a:r>
          </a:p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</a:p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  <a:r>
              <a:t>Each predicts log D per measurement; separations are differences of predictions inside a block. The final system is a weighted combination of the three, with weights fitted per held-out extractant on the separations directly.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Model 3: reading the 3D structure</a:t>
            </a:r>
          </a:p>
        </p:txBody>
      </p:sp>
      <p:pic>
        <p:nvPicPr>
          <p:cNvPr id="3" name="Picture 2" descr="g3_v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07" y="1325880"/>
            <a:ext cx="11155680" cy="309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029200"/>
            <a:ext cx="1106424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01214"/>
                </a:solidFill>
              </a:defRPr>
            </a:pPr>
            <a:r>
              <a:t>The network never sees raw coordinates — only this mesh and per-atom features. Pooling is centred on the metal, as a histogram over distance shells, so sub-0.1 Å changes in the coordination shell survive averaging.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3840"/>
                <a:gridCol w="3017520"/>
              </a:tblGrid>
              <a:tr h="32395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model (adjacent-pair R², held-out extractants)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score</a:t>
                      </a:r>
                    </a:p>
                  </a:txBody>
                  <a:tcPr/>
                </a:tc>
              </a:tr>
              <a:tr h="32395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gradient-boosted trees, descriptors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0.278</a:t>
                      </a:r>
                    </a:p>
                  </a:txBody>
                  <a:tcPr/>
                </a:tc>
              </a:tr>
              <a:tr h="32395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fingerprint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0.221</a:t>
                      </a:r>
                    </a:p>
                  </a:txBody>
                  <a:tcPr/>
                </a:tc>
              </a:tr>
              <a:tr h="32395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3D structure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0.266</a:t>
                      </a:r>
                    </a:p>
                  </a:txBody>
                  <a:tcPr/>
                </a:tc>
              </a:tr>
              <a:tr h="32395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combination of the two conventional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0.291</a:t>
                      </a:r>
                    </a:p>
                  </a:txBody>
                  <a:tcPr/>
                </a:tc>
              </a:tr>
              <a:tr h="32395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combination including the 3D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0.313</a:t>
                      </a:r>
                    </a:p>
                  </a:txBody>
                  <a:tcPr/>
                </a:tc>
              </a:tr>
              <a:tr h="32396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control: trees + 84 3D-derived descriptor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−0.02  (collapses)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343400"/>
            <a:ext cx="110642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01214"/>
                </a:solidFill>
              </a:defRPr>
            </a:pPr>
            <a:r>
              <a:t>The 3D model adds +0.023 to the best conventional combination and carries the largest fitted weight (0.46). Its value is correcting errors the other two share — handing the same 3D information to the trees as descriptors does not reproduce it.</a:t>
            </a:r>
          </a:p>
          <a:p>
            <a:pPr>
              <a:spcAft>
                <a:spcPts val="700"/>
              </a:spcAft>
              <a:defRPr sz="1350">
                <a:solidFill>
                  <a:srgbClr val="52514E"/>
                </a:solidFill>
              </a:defRPr>
            </a:pPr>
            <a:r>
              <a:t>Under stricter condition blocking the margin is +0.010; the 0.313 is exploratory until confirmed on a fresh held-out split.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Why the 3D signal is capped: the quantum chemistry underneath</a:t>
            </a:r>
          </a:p>
        </p:txBody>
      </p:sp>
      <p:pic>
        <p:nvPicPr>
          <p:cNvPr id="3" name="Picture 2" descr="g4_par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07" y="1280160"/>
            <a:ext cx="10241280" cy="303766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480560"/>
            <a:ext cx="11064240" cy="2194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01214"/>
                </a:solidFill>
              </a:defRPr>
            </a:pPr>
            <a:r>
              <a:t>To GFN2-xTB, the identity of the lanthanide is one number on a straight line. Its structures can therefore carry no f-shell physics — and that one number is already a descriptor column (the experimental ionic radius).</a:t>
            </a:r>
          </a:p>
          <a:p>
            <a:pPr>
              <a:spcAft>
                <a:spcPts val="700"/>
              </a:spcAft>
              <a:defRPr sz="1350">
                <a:solidFill>
                  <a:srgbClr val="101214"/>
                </a:solidFill>
              </a:defRPr>
            </a:pPr>
            <a:r>
              <a:t>Checked empirically: eight different 3D architectures give statistically identical predictions (cross-architecture correlation 0.986 — the same as re-running one architecture with a different random start).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Measuring what the structures get wrong: the contraction response</a:t>
            </a:r>
          </a:p>
        </p:txBody>
      </p:sp>
      <p:pic>
        <p:nvPicPr>
          <p:cNvPr id="3" name="Picture 2" descr="g5_slope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07" y="1280160"/>
            <a:ext cx="7498079" cy="41436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257800"/>
            <a:ext cx="1106424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01214"/>
                </a:solidFill>
              </a:defRPr>
            </a:pPr>
            <a:r>
              <a:t>Swap the metal inside a fixed ligand cage, re-relax, and ask: does the metal–donor bond shrink as much as the ion actually shrinks? The slope of this line is the structure's response to the lanthanide contraction — the physics adjacent-pair selectivity runs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Across 71 ligands: GFN2-xTB under-responds 2.5×; g-xTB gets it right</a:t>
            </a:r>
          </a:p>
        </p:txBody>
      </p:sp>
      <p:pic>
        <p:nvPicPr>
          <p:cNvPr id="3" name="Picture 2" descr="f5_contr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367" y="1280160"/>
            <a:ext cx="7680960" cy="35616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11064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01214"/>
                </a:solidFill>
              </a:defRPr>
            </a:pPr>
            <a:r>
              <a:t>New in this measurement: published benchmarks score individual complexes against DFT or X-ray structures. The response to the contraction — the trend across the series, against experimental radii — had not been measured for any tight-binding method, and g-xTB's lanthanide geometries had never been tested at all (its paper validates energies).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Fixing the structures does not fix the prediction — the loss function does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335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1371600"/>
                <a:gridCol w="3840480"/>
                <a:gridCol w="1371600"/>
              </a:tblGrid>
              <a:tr h="33375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changing the structures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changing the 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 score</a:t>
                      </a:r>
                    </a:p>
                  </a:txBody>
                  <a:tcPr/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g-xTB geometries (correct contraction physics)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+0.004 (n.s.)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trees: RMSE → quantile loss + re-tune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+0.136</a:t>
                      </a:r>
                    </a:p>
                  </a:txBody>
                  <a:tcPr/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conformer noise removed (455× cleaner series)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−0.013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3D model: up-weight the contrast 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+0.014</a:t>
                      </a:r>
                    </a:p>
                  </a:txBody>
                  <a:tcPr/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conditions injected into the 3D representation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−0.108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same change on a second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429000"/>
            <a:ext cx="1106424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01214"/>
                </a:solidFill>
              </a:defRPr>
            </a:pPr>
            <a:r>
              <a:t>Every structure-side improvement left the score unchanged or worse; every surviving gain came from aligning the training loss with the scored separation.</a:t>
            </a:r>
          </a:p>
          <a:p>
            <a:pPr>
              <a:spcAft>
                <a:spcPts val="700"/>
              </a:spcAft>
              <a:defRPr sz="1400">
                <a:solidFill>
                  <a:srgbClr val="101214"/>
                </a:solidFill>
              </a:defRPr>
            </a:pPr>
            <a:r>
              <a:t>The labels support roughly R² ≈ 0.53 (repeat measurements of the same separation agree to 0.153 on a spread of 0.224). Current best: 0.31. Geometry explains about 1 % of the remaining variance.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440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  <a:r>
              <a:t>1.  The best system includes the 3D structure model: 0.313 vs 0.291 without it, largest fitted weight. Its contribution is correcting errors the conventional models share — and it is not reproducible by handing the trees 3D-derived descriptors.</a:t>
            </a:r>
          </a:p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  <a:r>
              <a:t>2.  The ceiling on 3D is the quantum chemistry: GFN2-xTB carries no f-shell physics and under-responds to the lanthanide contraction 2.5×. Fixing the chemistry (g-xTB: right to within 8 %, 71/71 ligands, p = 5×10⁻⁵²) does not move the prediction — a new, standalone benchmark result.</a:t>
            </a:r>
          </a:p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  <a:r>
              <a:t>3.  What moved predictions, every time, was aligning the training loss with the scored separation — not richer structures.</a:t>
            </a:r>
          </a:p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</a:p>
          <a:p>
            <a:pPr>
              <a:spcAft>
                <a:spcPts val="700"/>
              </a:spcAft>
              <a:defRPr sz="1550">
                <a:solidFill>
                  <a:srgbClr val="52514E"/>
                </a:solidFill>
              </a:defRPr>
            </a:pPr>
            <a:r>
              <a:t>Next: a fresh held-out split to confirm 0.313; the contraction benchmark as a paper (adding Ln-xTB, Zhang 2026); predicting separations directly, toward the 0.53 that the labels support.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