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framing: this is the project you emailed about. Three parts: the ML result you asked about, a chemistry finding that explains its ceiling, and where the remaining signal is. Everything is leave-extractants-out and out-of-fold.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is reacting to the July numbers: boosting 0.142, fingerprint 0.221, 3D 0.238, stack 0.267. On those, his reading was fair. Two things changed: the boosting loss (RMSE-&gt;Quantile 0.6, +0.136) and the 3D contrast weight (2-&gt;4, +0.015). Say plainly: single-model superiority is gone; complementarity survived and the best system still needs the 3D arm, largest stack weight 0.46. If he pushes: the strict-key bound is slide 11, don't dodge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Industrial context: solvent extraction is THE separation route; adjacent pairs (Nd/Pr for magnets, Dy/Tb) are the expensive ones. Metric intuition: R^2=0 already means 'predicts the average separation'; sign accuracy ~0.5. The contraction is 0.013 A per step — smaller than thermal vibration amplitudes. That is why this is a needle-in-haystack representation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Provenance matters to him. SAFE is literature-curated; every row carries its DOI and full conditions. 181 distinct publications. The replicate structure (same system, different labs) is what later gives us the label-noise floor and the ceiling estimate. The modelled subset is the trivalent lanthanides with buildable complexes.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table once. Emphasise: no raw coordinates enter the network — charges, flags, metal distances on a fixed topological object. 956 unique complexes; convergence independently force-checked. VR at 3.5 A keeps triangles: that IS the simplicial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coverage is uneven (Eu, Am-adjacent studies dominate); minimum ~120 rows per lanthanide. Bottom right is the quantity actually scored: heavy-tailed, sd 0.27, mean |sep| 0.18 log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one-figure argument for the whole difficulty. Left: metal colouring is invisible — lanthanide identity is a vanishing direction. Right: extractant families are tight clusters; TODGA alone is 1,553 rows. Generalisation must cross clusters while resolving a signal orthogonal to them. If asked: 19%+8% variance on PC1/2 after winsorisation; before it, a few outlier rows dominated.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defences: grouped CV so no ligand leaks; replicate averaging inside blocks so a 10x-measured metal doesn't dominate; seed ensembles scored OOF. Per-seed sd of a paired delta is 0.0285 — this number drives every design decision in act 3. 8 seeds resolve 0.028; the true effects are 0.01-0.02; hence 24-32 seeds for anything confirmatory.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stacking detail is load-bearing: fit weights on rows and 79% goes to the model best at levels and worst at pairs. Fitting on pair vectors, nested per held-out extractant, was worth +0.056. The metal-centred histogram pooling: without it the 3D encoder cannot even recover the lanthanide index (R^2 0.016) because mean-pooling 100 atoms erases 0.01-A shell shifts.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CatBoost chain: RMSE-&gt;MAE (+0.107) -&gt; Quantile(0.6) -&gt; hyperparameters re-tuned under the winning loss (+0.021 more; +0.016 of it confirmed on a held-out third). 3D: contrast weight 2-&gt;4. Fingerprint unchanged. If asked why quantile: log D has a heavy left tail; an upper quantile down-weights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caveats live HERE, not in backup: (1) contribution shrank 0.038-&gt;0.023 as partners improved — predicted by the error-correlation mechanism; (2) strict key halves it, and the published contribution was already indistinguishable there — some of the 3D gain lives in condition binning; (3) exploratory: both improved components tuned on data inside this population; every clean held-out partition is spent. Next confirmatory step = fresh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parameter file: every lanthanide parameter Ce(58)-&gt;Lu(71) is linear interpolation between two anchors, residual 5e-7 = printed precision. Authors' documented design (f-in-core), not our discovery — the CONSEQUENCE is ours: one scalar of metal information, already present as the Shannon radius column. Retrodicts encoder interchangeability: 8 encoders, effective rank 1.05; two architectures correlate 0.986 = two seeds of one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Construction: take one relaxed anchor per ligand family, substitute all 15 lanthanides, re-relax — series in correspondence, so the slope is clean of conformer noise. c_L = d&lt;M-donor&gt;/d r_Shannon; experiment = 1.00 by construction. GFN2 0.41 (2.47x under), g-xTB 1.08. 71/71 ligands improve, paired p=5e-52. Replicated in implicit solvent and on an independent 6-ligand pilot. GFN2's response is also mostly noise: 23% shared across ligands vs 96%.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here; he will know the Grimme literature. Bursch 2017: GFN1, 80 complexes, per-complex RMSD vs CSD — no series trend. Ln-xTB (Zhang, JCC 2026, NEW): GFN2 Ln bond MAD 0.134 A vs DFT — absolute errors, reference is DFT not experiment; I could not access full text yet — obligation to read before submission. g-xTB preprint: ~32k relative ENERGIES, no lanthanide geometry validation at all. So: the DERIVATIVE observable, the experiment reference, the g-xTB geometry validation, and the link to ML rank collapse are ours. Natural follow-up: run the same benchmark on Ln-xTB — also the pre-registered falsifying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punchline of act 2. Four representation-side interventions, all null/harmful, all powered. Tell the shrinkage story: a +0.033 p=0.02 7/8-seed 'gain' died because rescaling the OLD geometry by one constant recovered 237% of it — R² on a weak baseline rises when predictions shrink. Conclusion: the missing information is not in the coordinates.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single change — contrast-term weight 2-&gt;4 — on both encoders, disjoint seed sets: +0.0142 (40 seeds, p=0.014) and +0.0146 (24 seeds, p=0.035). Objective-level effect, not encoder artefact. Cost: overall log D dips 0.015 — a selectivity setting. History note if asked: an early 8-seed estimate said +0.027; independent seeds halved it — the power lesson of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Naive noise math gives an impossible negative ceiling (within-block scatter 0.72-0.95 &gt; separation spread 0.224) — resolved because condition effects are shared by both metals of a pair and cancel on differencing: repeated separations reproduce to 0.153. Ceiling 1-(0.153/0.224)^2 ~ 0.53, a LOWER bound. We are at ~60%. Remaining signal: conditions, direct pair modelling — not geometry (~1%).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has a one-line story: (1) C8 geometry-only +0.033 -&gt; scale-free check reversed it; (2) a quantile setting +0.017 on 4/4 seeds -&gt; +0.002 at 8; (3) plw4 +0.027 p=0.021 -&gt; +0.014 pooled over 40 independent seeds. Silent no-ops: 5 flags incl. the pair head — accepted, logged as enabled, ignored; untested for the entire study without anyone knowing. Gate now raises.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order on the call: answer his question (2 min), best-system numbers (5), contraction benchmark + novelty (10), negatives + what works (5), discussion (rest). If time is short, slides 2, 11, 13, 14 are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A2E4A"/>
                </a:solidFill>
              </a:defRPr>
            </a:pPr>
            <a:r>
              <a:t>Predicting Adjacent-Lanthanide Selectivity from 3D Structure</a:t>
            </a:r>
          </a:p>
          <a:p>
            <a:pPr>
              <a:defRPr sz="1900" b="0">
                <a:solidFill>
                  <a:srgbClr val="555A60"/>
                </a:solidFill>
              </a:defRPr>
            </a:pPr>
            <a:r>
              <a:t>Dataset, models, complete findings — and a new benchmark on the chemistry underneath</a:t>
            </a:r>
          </a:p>
          <a:p>
            <a:pPr>
              <a:defRPr sz="1200" b="0">
                <a:solidFill>
                  <a:srgbClr val="555A60"/>
                </a:solidFill>
              </a:defRPr>
            </a:pPr>
          </a:p>
          <a:p>
            <a:pPr>
              <a:defRPr sz="1500" b="0">
                <a:solidFill>
                  <a:srgbClr val="555A60"/>
                </a:solidFill>
              </a:defRPr>
            </a:pPr>
            <a:r>
              <a:t>Bogdan Mironov · discussion with Prof. K. Vogiatzis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Your question first: “constantly more accurate — am I right?”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The precise answer before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As a single model — no longer.</a:t>
            </a:r>
          </a:p>
          <a:p>
            <a:pPr lvl="1">
              <a:spcAft>
                <a:spcPts val="600"/>
              </a:spcAft>
              <a:defRPr sz="1400" b="0">
                <a:solidFill>
                  <a:srgbClr val="22262A"/>
                </a:solidFill>
              </a:defRPr>
            </a:pPr>
            <a:r>
              <a:t>With the right loss, gradient boosting on 2D descriptors reaches 0.278 — above the 3D encoder alone (0.266) and above July's full combination (0.267).</a:t>
            </a:r>
          </a:p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As part of the best system — yes, and it is the largest component.</a:t>
            </a:r>
          </a:p>
          <a:p>
            <a:pPr lvl="1">
              <a:spcAft>
                <a:spcPts val="600"/>
              </a:spcAft>
              <a:defRPr sz="1400" b="0">
                <a:solidFill>
                  <a:srgbClr val="22262A"/>
                </a:solidFill>
              </a:defRPr>
            </a:pPr>
            <a:r>
              <a:t>0.313 with the 3D encoder vs 0.291 without; pair-fitted weights: 3D 0.46, boosting 0.42, fingerprint 0.11.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The defensible claim is complementarity: the 3D encoder corrects errors the 2D models share. It has never been that the encoder outranks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Adjacent lanthanides are the hard case of rare-earth separation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Liquid–liquid extraction with designed organic extractants is the industrial route to rare-earth separation; neighbouring pairs (Nd/Pr, Dy/Tb) are the bottleneck.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Adjacent trivalent ions differ by ~0.013 Å in ionic radius — the lanthanide contraction — and by essentially nothing else a classical descriptor sees.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Target capability: predict the DIFFERENCE in log D between adjacent lanthanides with the same extractant under the same conditions → in-silico screening for a target pair.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Metric throughout: R² of the predicted adjacent-pair log separation factor (905 pairs). Zero = no better than the average separation for every pair.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Data: the SAFE solvent-extraction database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DOI-linked, condition-resolved literature measurements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content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raw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SAFE database: 48,138 curated measurements · 31 elements · 181 publications, each row DOI-linked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per-row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extractant SMILES + conc., acid + conc., diluent, metal + oxidation state, temperature, modifiers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modelled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4,746 measurements · 162 extractants · 14 lanthanides (Pm absent in nature) · target: log 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blocking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composition block = one extractant × one binned condition set; pairs differenced within blocks 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From SMILES to simplicial complex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5943600"/>
              </a:tblGrid>
              <a:tr h="3444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complex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Architector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3D guess per (extractant, Ln, anion/water fill), CN 8–9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relaxation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GFN2-xTB, ALPB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956 unique optimised complexes, force-checked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atom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xTB Mulliken charges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per-atom charges; metal/donor flags; distances to metal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topological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Vietoris–Rips @ 3.5 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nodes + edges + triangles per complex — the 3D encoder input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tabular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RDKit · ECFP ·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746 columns incl. 64 condition columns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The data at a glance</a:t>
            </a:r>
          </a:p>
        </p:txBody>
      </p:sp>
      <p:pic>
        <p:nvPicPr>
          <p:cNvPr id="3" name="Picture 2" descr="f1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367" y="1234440"/>
            <a:ext cx="7680960" cy="3436218"/>
          </a:xfrm>
          <a:prstGeom prst="rect">
            <a:avLst/>
          </a:prstGeom>
        </p:spPr>
      </p:pic>
      <p:pic>
        <p:nvPicPr>
          <p:cNvPr id="4" name="Picture 3" descr="f2_tar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407" y="3977639"/>
            <a:ext cx="9326880" cy="3206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Why leave-extractants-out is the hard split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PCA of the standardised 746-column matrix (winsorised at ±4σ)</a:t>
            </a:r>
          </a:p>
        </p:txBody>
      </p:sp>
      <p:pic>
        <p:nvPicPr>
          <p:cNvPr id="3" name="Picture 2" descr="f3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7" y="1417320"/>
            <a:ext cx="10424160" cy="42016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Leave-extractants-out grouped CV, 5 folds × 3 repeats: no ligand in both train and test.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Adjacent pairs built inside composition blocks; replicate measurements of the same (block, metal) averaged first so each contributes one point.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All reported models are 16–32-seed ensembles scored out-of-fold; deterministic training for paired seed-vs-seed contrasts.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Measured per-seed sd of a paired Δ: 0.0285 → 8 seeds resolve only ~0.028. Every confirmatory claim in this talk uses 24–32 paired seeds.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Three model families, one pair-fitted combination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651760"/>
                <a:gridCol w="530352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key design point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gradient boosting (CatBoost)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746 tabular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loss function decisive (next slides)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fingerprint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ECFP + descriptors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scaling repair took pairs R² 0.005 → 0.221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3D encoder (simplicial)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VR 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message passing over nodes/edges/triangles; metal-centred distance-histogram pooling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all three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weights fitted on PAIR vectors, nested per held-out extractant (NNLS)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Results: July → today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Both improvements are objective-function changes — no architecture changed</a:t>
            </a:r>
          </a:p>
        </p:txBody>
      </p:sp>
      <p:pic>
        <p:nvPicPr>
          <p:cNvPr id="3" name="Picture 2" descr="f4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7" y="1371600"/>
            <a:ext cx="8778240" cy="36746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tabular gain came stepwise: RMSE → MAE (+0.107) → Quantile(0.6) → re-tuned depth/rsm under that loss. The 3D gain is the contrast-weight change (slide 16).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The best system, and its honest boundary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2743200"/>
                <a:gridCol w="2286000"/>
              </a:tblGrid>
              <a:tr h="3444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adjacent-pair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3D marginal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best 2D single (tuned boosting)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2D stack (boosting + fingerprint)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2D stack + 3D 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+0.023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same, strict condition key (1,417 pairs)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+0.210 vs +0.200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+0.010</a:t>
                      </a:r>
                    </a:p>
                  </a:txBody>
                  <a:tcPr/>
                </a:tc>
              </a:tr>
              <a:tr h="3444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published July stack, for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+0.038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862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3D contribution shrank as partners improved — complementarity means a stronger partner leaves less to correct.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Strict key = only the lanthanide varies inside a block. The honest statement: part of the 3D gain lives in condition binning.</a:t>
            </a:r>
          </a:p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Status: exploratory. Both improved components were tuned inside this population; a fresh held-out split is the next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Act 2 — why doesn't 3D do more? The Hamiltonian is rank-1 in the metal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GFN2-xTB treats f-electrons in-core; every lanthanide parameter from Ce to Lu is linear interpolation between two fitted anchors (residual 5×10⁻⁷ — the file's printed precision).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Consequence: metal identity enters every geometry as ONE scalar, linear in Z. No f-shell, no gadolinium break, no tetrad effect — by construction.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Retrodiction confirmed: eight different 3D encoders are mutually interchangeable — effective rank 1.05 of 8; two architectures correlate at 0.986, same as two seed-ensembles of one.</a:t>
            </a:r>
          </a:p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And that one scalar is already a tabular column (Shannon ionic radius) — an encoder reading these geometries re-derives a feature the models already have.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Measuring the damage against experiment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Per-ligand contraction slope, fixed ligand environment, 71 ligands · 15 Ln · 2,130 optimisations</a:t>
            </a:r>
          </a:p>
        </p:txBody>
      </p:sp>
      <p:pic>
        <p:nvPicPr>
          <p:cNvPr id="3" name="Picture 2" descr="f5_con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047" y="1371600"/>
            <a:ext cx="8229600" cy="38160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20640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g-xTB (Grimme 2025, f-electrons in valence) improves the contraction response on 71 of 71 ligands, p = 5×10⁻⁵². GFN2's per-ligand slope is mostly noise: 23 % cross-ligand reproducibility vs 96 %.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Is this new? — what the literature already knows (web check, Aug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480560"/>
                <a:gridCol w="3383280"/>
              </a:tblGrid>
              <a:tr h="35204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prior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what it established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what it did not do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Bursch/Hansen/Grimme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GFN1 usable for Ln geometries: 80 complexes, RMSD 0.65 Å vs 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cross-series trend analysis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Zhang et al., JCC 2026 (Ln-xTB)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GFN2 Ln bond MAD 0.134 Å vs DFT; new params reach 0.037 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absolute errors vs DFT, not the contraction slope vs experiment</a:t>
                      </a:r>
                    </a:p>
                  </a:txBody>
                  <a:tcPr/>
                </a:tc>
              </a:tr>
              <a:tr h="35204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g-xTB preprint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~32k relative energies incl. actinides; f-populations as fit targets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lanthanide geometry validation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5204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E7A5F"/>
                </a:solidFill>
              </a:defRPr>
            </a:pPr>
            <a:r>
              <a:t>New here: the contraction SLOPE as the observable (per-ligand, fixed environment, vs Shannon experiment); the 2.47× correlated trend error that per-complex MAD cannot see; the first lanthanide-geometry validation of g-xTB; and the chain to ML encoder rank collapse.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Before submission: obtain the Ln-xTB full text (closest prior art, this year) — and run the same benchmark on Ln-xTB, which is also our pre-registered falsifying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Fixing the chemistry does not fix the score</a:t>
            </a:r>
          </a:p>
          <a:p>
            <a:pPr>
              <a:defRPr sz="1400">
                <a:solidFill>
                  <a:srgbClr val="555A60"/>
                </a:solidFill>
              </a:defRPr>
            </a:pPr>
            <a:r>
              <a:t>All 956 complexes re-optimised with g-xTB; matched pairs, identical rows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2560320"/>
                <a:gridCol w="210312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representation-side intervention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Δ adjacent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g-xTB geometries (correct contraction)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+0.004 (p = 0.68)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null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structures in correspondence (455× less conformer noise)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negative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conditions modulating the 3D embedding (FiLM)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−0.108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harmful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direct pair head + reconciliation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catastrophic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566160"/>
            <a:ext cx="110642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One apparent positive (+0.033, p = 0.02, 7/8 seeds) was calibration: one rescaling constant on the OLD geometry recovered 237 % of it.</a:t>
            </a:r>
          </a:p>
          <a:p>
            <a:pPr>
              <a:spcAft>
                <a:spcPts val="600"/>
              </a:spcAft>
              <a:defRPr sz="1600" b="1">
                <a:solidFill>
                  <a:srgbClr val="A8322D"/>
                </a:solidFill>
              </a:defRPr>
            </a:pPr>
            <a:r>
              <a:t>The information the models lack is not in the coordinates. Geometric fidelity is not the bottleneck for this property.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What does move the metric: aligning the loss with the scored contrast</a:t>
            </a:r>
          </a:p>
        </p:txBody>
      </p:sp>
      <p:pic>
        <p:nvPicPr>
          <p:cNvPr id="3" name="Picture 2" descr="f6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87" y="1325880"/>
            <a:ext cx="8046720" cy="35348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0"/>
            <a:ext cx="1106424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Up-weighting the within-block contrast term: +0.0142 (distance encoder, 40 independent seeds) and +0.0146 (simplicial, 24 seeds) — the same effect on two architectures. Cost: overall log D R² −0.015.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Headroom: the labels support ≈ +0.53</a:t>
            </a:r>
          </a:p>
        </p:txBody>
      </p:sp>
      <p:pic>
        <p:nvPicPr>
          <p:cNvPr id="3" name="Picture 2" descr="f7_cei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727" y="1371600"/>
            <a:ext cx="8778240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The same adjacent separation measured in independent blocks reproduces to 0.153 on a spread of 0.224 — condition effects cancel on differencing. We are at ~60 % of the ceiling; geometry explains ~1 % of pair variance under either Hamiltonian.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Methodology: three false positives were caught in one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Power: per-seed sd 0.0285 → n = 8 resolves ~0.028 while true effects are 0.01–0.02. Three n ≤ 8 'significant' gains dissolved on independent seeds; confirmatory runs now use 24–32.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Scale-free check: on a weak baseline R² rises when predictions shrink toward the mean; requiring Pearson² sign agreement killed a p = 0.02 artefact.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Silent no-ops: five CLI flags were accepted, recorded as enabled, and ignored by architectures lacking them — including the pair head, untested for the whole study. A capability gate now raises instead.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  <a:r>
              <a:t>Selection hygiene: every axis clearing +0.02 on screening data (four) failed held-out. Pre-registration with the bar and null-consequence committed before data exists is now standard.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A2E4A"/>
                </a:solidFill>
              </a:defRPr>
            </a:pPr>
            <a:r>
              <a:t>Summary — three claims, four things to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1.  The 3D encoder is necessary for the best result via complementarity (0.313 vs 0.291, largest weight) — no longer the strongest single model; contribution shrinks under strict blocking.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2.  The 3D ceiling is the Hamiltonian's: GFN2 is rank-1 in the metal and under-predicts the contraction 2.47×; g-xTB fixes the chemistry (8 % of experiment, 71/71 ligands) and the score does not move. The benchmark is new — validated against the literature — and stands alone.</a:t>
            </a:r>
          </a:p>
          <a:p>
            <a:pPr>
              <a:spcAft>
                <a:spcPts val="600"/>
              </a:spcAft>
              <a:defRPr sz="1600" b="1">
                <a:solidFill>
                  <a:srgbClr val="1A2E4A"/>
                </a:solidFill>
              </a:defRPr>
            </a:pPr>
            <a:r>
              <a:t>3.  The lever for selectivity is the objective: every surviving gain came from aligning the loss with the scored contrast, transferring across architectures.</a:t>
            </a:r>
          </a:p>
          <a:p>
            <a:pPr>
              <a:spcAft>
                <a:spcPts val="600"/>
              </a:spcAft>
              <a:defRPr sz="1600" b="0">
                <a:solidFill>
                  <a:srgbClr val="22262A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555A60"/>
                </a:solidFill>
              </a:defRPr>
            </a:pPr>
            <a:r>
              <a:t>Discuss:  (a) fresh held-out split for confirmation;  (b) the contraction benchmark as a standalone paper — incl. running it on Ln-xTB (Zhang 2026, closest prior art);  (c) direct pair modelling toward +0.53;  (d) whether VR complementarity merits a methods note given the strict-key 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