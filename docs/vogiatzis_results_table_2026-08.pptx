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number is out-of-fold under leave-extractants-out CV (5x3), ensembled over 16-32 seeds. Combination members, exactly: (a) row-fitted: CatBoost q60_rsm03_deep + fingerprint FCNN + simplicial network at pair-contrast weight 2, mixing weights fitted by minimising row-level log D error (source: best_stack.csv; the frozen July 22 internal result). (b) pair-fitted: CatBoost q60_rsm03_deep + fingerprint FCNN + distance encoder at pair-contrast weight 4, mixing weights fitted on the 905 adjacent-pair separations directly (source: c17_stack_new.csv, stack_adj_r2 = 0.3132). The pair-fitted combination is exploratory: no clean held-out partition remains. Best at absolute log D (CatBoost, 0.508) is worst-complementing on pairs alone - that is why combinations exist and why fitting the mix on pairs beats fitting it on rows. Ceiling from 203 repeated (composition, adjacent-pair) cases: reproducibility 0.153 vs spread 0.224.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4A"/>
                </a:solidFill>
              </a:rPr>
              <a:t>Results: overall accuracy and adjacent-pair separations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2514E"/>
                </a:solidFill>
              </a:rPr>
              <a:t>Leave-extractants-out cross-validation (5 folds × 3 repeats), out-of-fold, 16–32-seed ensembles · 4,746 rows · 905 adjacent pairs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481328"/>
          <a:ext cx="10515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182880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A2E4A"/>
                          </a:solidFill>
                        </a:rPr>
                        <a:t>Model</a:t>
                      </a:r>
                    </a:p>
                  </a:txBody>
                  <a:tcPr marL="91440" marR="54864" marT="18288" marB="18288">
                    <a:solidFill>
                      <a:srgbClr val="E3E5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1A2E4A"/>
                          </a:solidFill>
                        </a:rPr>
                        <a:t>Overall log D R²</a:t>
                      </a:r>
                    </a:p>
                  </a:txBody>
                  <a:tcPr marL="91440" marR="54864" marT="18288" marB="18288">
                    <a:solidFill>
                      <a:srgbClr val="E3E5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1A2E4A"/>
                          </a:solidFill>
                        </a:rPr>
                        <a:t>Adjacent-pair log SF R²</a:t>
                      </a:r>
                    </a:p>
                  </a:txBody>
                  <a:tcPr marL="91440" marR="54864" marT="18288" marB="18288">
                    <a:solidFill>
                      <a:srgbClr val="E3E5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01214"/>
                          </a:solidFill>
                        </a:rPr>
                        <a:t>Gradient-boosted trees (CatBoost, quantile loss q = 0.6, tabular features)</a:t>
                      </a:r>
                    </a:p>
                  </a:txBody>
                  <a:tcPr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01214"/>
                          </a:solidFill>
                        </a:rPr>
                        <a:t>0.508</a:t>
                      </a:r>
                    </a:p>
                  </a:txBody>
                  <a:tcPr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01214"/>
                          </a:solidFill>
                        </a:rPr>
                        <a:t>0.278</a:t>
                      </a:r>
                    </a:p>
                  </a:txBody>
                  <a:tcPr marL="91440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01214"/>
                          </a:solidFill>
                        </a:rPr>
                        <a:t>Fully-connected network on molecular fingerprints</a:t>
                      </a:r>
                    </a:p>
                  </a:txBody>
                  <a:tcPr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01214"/>
                          </a:solidFill>
                        </a:rPr>
                        <a:t>0.322</a:t>
                      </a:r>
                    </a:p>
                  </a:txBody>
                  <a:tcPr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01214"/>
                          </a:solidFill>
                        </a:rPr>
                        <a:t>0.221</a:t>
                      </a:r>
                    </a:p>
                  </a:txBody>
                  <a:tcPr marL="91440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01214"/>
                          </a:solidFill>
                        </a:rPr>
                        <a:t>3D distance encoder (GFN2-xTB geometries), pair-contrast loss weight 4</a:t>
                      </a:r>
                    </a:p>
                  </a:txBody>
                  <a:tcPr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01214"/>
                          </a:solidFill>
                        </a:rPr>
                        <a:t>0.343</a:t>
                      </a:r>
                    </a:p>
                  </a:txBody>
                  <a:tcPr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01214"/>
                          </a:solidFill>
                        </a:rPr>
                        <a:t>0.266</a:t>
                      </a:r>
                    </a:p>
                  </a:txBody>
                  <a:tcPr marL="91440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01214"/>
                          </a:solidFill>
                        </a:rPr>
                        <a:t>3D simplicial network (Vietoris–Rips), pair-contrast loss weight 2</a:t>
                      </a:r>
                    </a:p>
                  </a:txBody>
                  <a:tcPr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01214"/>
                          </a:solidFill>
                        </a:rPr>
                        <a:t>0.359</a:t>
                      </a:r>
                    </a:p>
                  </a:txBody>
                  <a:tcPr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01214"/>
                          </a:solidFill>
                        </a:rPr>
                        <a:t>0.239</a:t>
                      </a:r>
                    </a:p>
                  </a:txBody>
                  <a:tcPr marL="91440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01214"/>
                          </a:solidFill>
                        </a:rPr>
                        <a:t>3D simplicial network (Vietoris–Rips), pair-contrast loss weight 4</a:t>
                      </a:r>
                    </a:p>
                  </a:txBody>
                  <a:tcPr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01214"/>
                          </a:solidFill>
                        </a:rPr>
                        <a:t>0.341</a:t>
                      </a:r>
                    </a:p>
                  </a:txBody>
                  <a:tcPr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01214"/>
                          </a:solidFill>
                        </a:rPr>
                        <a:t>0.243</a:t>
                      </a:r>
                    </a:p>
                  </a:txBody>
                  <a:tcPr marL="91440" marR="54864" marT="18288" marB="18288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01214"/>
                          </a:solidFill>
                        </a:rPr>
                        <a:t>Combination: CatBoost + fingerprint network + simplicial network (weight 2);</a:t>
                      </a:r>
                    </a:p>
                    <a:p>
                      <a:pPr algn="l"/>
                      <a:r>
                        <a:rPr sz="1350" b="0">
                          <a:solidFill>
                            <a:srgbClr val="101214"/>
                          </a:solidFill>
                        </a:rPr>
                        <a:t>mixing weights fitted on row-level log D</a:t>
                      </a:r>
                    </a:p>
                  </a:txBody>
                  <a:tcPr marL="91440" marR="54864"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01214"/>
                          </a:solidFill>
                        </a:rPr>
                        <a:t>0.437</a:t>
                      </a:r>
                    </a:p>
                  </a:txBody>
                  <a:tcPr marL="91440" marR="54864"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01214"/>
                          </a:solidFill>
                        </a:rPr>
                        <a:t>0.267</a:t>
                      </a:r>
                    </a:p>
                  </a:txBody>
                  <a:tcPr marL="91440" marR="54864" marT="18288" marB="18288">
                    <a:solidFill>
                      <a:srgbClr val="F4F6F8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01214"/>
                          </a:solidFill>
                        </a:rPr>
                        <a:t>Combination: CatBoost + fingerprint network + distance encoder (weight 4);</a:t>
                      </a:r>
                    </a:p>
                    <a:p>
                      <a:pPr algn="l"/>
                      <a:r>
                        <a:rPr sz="1350" b="1">
                          <a:solidFill>
                            <a:srgbClr val="101214"/>
                          </a:solidFill>
                        </a:rPr>
                        <a:t>mixing weights fitted on the 905 adjacent pairs</a:t>
                      </a:r>
                    </a:p>
                  </a:txBody>
                  <a:tcPr marL="91440" marR="54864"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101214"/>
                          </a:solidFill>
                        </a:rPr>
                        <a:t>—</a:t>
                      </a:r>
                    </a:p>
                  </a:txBody>
                  <a:tcPr marL="91440" marR="54864"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101214"/>
                          </a:solidFill>
                        </a:rPr>
                        <a:t>0.313</a:t>
                      </a:r>
                    </a:p>
                  </a:txBody>
                  <a:tcPr marL="91440" marR="54864" marT="18288" marB="18288"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01214"/>
                          </a:solidFill>
                        </a:rPr>
                        <a:t>Ceiling supported by the labels</a:t>
                      </a:r>
                    </a:p>
                  </a:txBody>
                  <a:tcPr marL="91440" marR="54864"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01214"/>
                          </a:solidFill>
                        </a:rPr>
                        <a:t>—</a:t>
                      </a:r>
                    </a:p>
                  </a:txBody>
                  <a:tcPr marL="91440" marR="54864"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01214"/>
                          </a:solidFill>
                        </a:rPr>
                        <a:t>≈ 0.53</a:t>
                      </a:r>
                    </a:p>
                  </a:txBody>
                  <a:tcPr marL="91440" marR="54864" marT="18288" marB="18288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989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2514E"/>
                </a:solidFill>
              </a:rPr>
              <a:t>Each combination is a linear mix of the listed models' out-of-fold predictions. The pair-fitted combination optimises the adjacent pairs only, so it has no overall score. Ceiling: separations reproduce to ±0.153 on a spread of 0.224 → 1 − (0.153/0.224)² ≈ 0.53. Nothing is published yet.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