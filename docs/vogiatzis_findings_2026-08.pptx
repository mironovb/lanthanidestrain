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E4A"/>
                </a:solidFill>
              </a:defRPr>
            </a:pPr>
            <a:r>
              <a:t>3D Structure and Adjacent-Lanthanide Selectivity</a:t>
            </a:r>
          </a:p>
          <a:p>
            <a:pPr>
              <a:defRPr sz="2000">
                <a:solidFill>
                  <a:srgbClr val="555A60"/>
                </a:solidFill>
              </a:defRPr>
            </a:pPr>
            <a:r>
              <a:t>Complete findings: where the Vietoris–Rips encoder helps, where it cannot, and why</a:t>
            </a:r>
          </a:p>
          <a:p>
            <a:br/>
            <a:pPr>
              <a:defRPr sz="1600">
                <a:solidFill>
                  <a:srgbClr val="555A60"/>
                </a:solidFill>
              </a:defRPr>
            </a:pPr>
            <a:r>
              <a:t>Bogdan Mironov — prepared for discussion with Prof. K. Vogiatzis,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Your question first: “constantly more accurate — am I right?”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The precise claim is narrower than that, and stronger where it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A8322D"/>
                </a:solidFill>
              </a:defRPr>
            </a:pPr>
            <a:r>
              <a:t>Not constantly more accurate as a single model.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22262A"/>
                </a:solidFill>
              </a:defRPr>
            </a:pPr>
            <a:r>
              <a:t>Given the right loss function, plain gradient boosting on 2D descriptors now reaches 0.278 — above the 3D encoder alone (0.266) and above the July combination (0.267).</a:t>
            </a:r>
          </a:p>
          <a:p>
            <a:pPr>
              <a:spcAft>
                <a:spcPts val="700"/>
              </a:spcAft>
              <a:defRPr sz="1700" b="1">
                <a:solidFill>
                  <a:srgbClr val="0E7A5F"/>
                </a:solidFill>
              </a:defRPr>
            </a:pPr>
            <a:r>
              <a:t>But the best system still requires the 3D encoder.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22262A"/>
                </a:solidFill>
              </a:defRPr>
            </a:pPr>
            <a:r>
              <a:t>Best combination WITH the 3D encoder:  0.313.  Without it:  0.291.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22262A"/>
                </a:solidFill>
              </a:defRPr>
            </a:pPr>
            <a:r>
              <a:t>The pair-fitted combiner assigns the 3D encoder the LARGEST weight of the three models: 0.46 vs 0.42 (boosting) and 0.11 (fingerprint network).</a:t>
            </a:r>
          </a:p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The defensible statement: the 3D encoder contributes by complementarity — it corrects errors the 2D models share — not by outranking them.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Everything on the following slides is leave-extractants-out, 16–32 seed ensembles, out-of-fold.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What changed since my July email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Two components improved; the July numbers are superseded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59" cy="178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1463040"/>
                <a:gridCol w="3749039"/>
              </a:tblGrid>
              <a:tr h="35661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model (adjacent-pair log SF 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July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gradient boosting, 2D descriptors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loss: RMSE → Quantile(0.6) + re-tuned depth/rsm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fingerprint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unchanged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3D encoder (Vietoris–Rips + message passing)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contrast-loss weight 2 → 4</a:t>
                      </a:r>
                    </a:p>
                  </a:txBody>
                  <a:tcPr/>
                </a:tc>
              </a:tr>
              <a:tr h="356619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best 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both improvements + pair-fitted stacking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49039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Neither improvement is architectural. Both are objective-function changes; the representations are untouched.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The single largest lever in the whole project was the tree model's loss function: RMSE → MAE → Quantile(0.6), cumulatively +0.136 on the adjacent metric.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The current best result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Nested pair-fitted stack, weights refitted per held-out extractant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178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  <a:gridCol w="2286000"/>
              </a:tblGrid>
              <a:tr h="35661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adjacent-pair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3D marginal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best 2D single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2D stack (boosting + fingerprint 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2D stack + 3D 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+0.023</a:t>
                      </a:r>
                    </a:p>
                  </a:txBody>
                  <a:tcPr/>
                </a:tc>
              </a:tr>
              <a:tr h="356619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  same, under the strict condition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+0.210 vs +0.200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+0.010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56616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The 3D contribution SHRANK as the 2D partners improved: +0.038 published → +0.023 now. This is the complementarity mechanism working in reverse — a stronger partner leaves less to correct.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Under the strict key (only the lanthanide varies within a block) the contribution halves and was already statistically indistinguishable in the published analysis. This is the honest boundary of the claim.</a:t>
            </a:r>
          </a:p>
          <a:p>
            <a:pPr>
              <a:spcAft>
                <a:spcPts val="700"/>
              </a:spcAft>
              <a:defRPr sz="1700" b="1">
                <a:solidFill>
                  <a:srgbClr val="A8322D"/>
                </a:solidFill>
              </a:defRPr>
            </a:pPr>
            <a:r>
              <a:t>Status: exploratory. Both improved components were tuned on data inside this population; every clean held-out partition has now been spent. A fresh split is needed for a confirmatory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Why 3D contributes so little — it is the Hamiltonian, not the encoder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GFN2-xTB's own parameter file, confirmed by its authors'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Every GFN2-xTB lanthanide parameter from Ce(58) to Lu(71) is LINEAR INTERPOLATION between two fitted anchors (max residual 5×10⁻⁷ — the file's printed precision).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Metal identity therefore enters every geometry as ONE scalar, linear in Z. No f-shell, no crystal field, no gadolinium break, no tetrad effect — by construction.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This retrodicts our strangest observation: eight different 3D encoders were mutually interchangeable (effective rank 1.05 of 8; two architectures correlate at 0.986, same as two seeds of one architecture).</a:t>
            </a:r>
          </a:p>
          <a:p>
            <a:pPr>
              <a:spcAft>
                <a:spcPts val="700"/>
              </a:spcAft>
              <a:defRPr sz="1700" b="1">
                <a:solidFill>
                  <a:srgbClr val="0E7A5F"/>
                </a:solidFill>
              </a:defRPr>
            </a:pPr>
            <a:r>
              <a:t>Any encoder reading GFN2 geometries can extract at most one scalar of metal information — and the tabular ionic radius already supplies that scalar.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We quantified the damage against experiment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71 ligands × 15 lanthanides × 2 Hamiltonians — 2,130 optimisations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112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97680"/>
              </a:tblGrid>
              <a:tr h="3749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contraction slope c_L (1.00 = Shannon 1976)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GFN2-xTB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0.405 ± 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under-predicts 2.47× ; per-ligand slope mostly noise</a:t>
                      </a:r>
                    </a:p>
                  </a:txBody>
                  <a:tcPr/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g-xTB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1.078 ± 0.094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within 8% of experiment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017520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g-xTB improves the contraction on 71 of 71 ligands (paired p = 5×10⁻⁵², Wilcoxon p = 2×10⁻¹³). Reproduced in implicit solvent and on an independent pilot set.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Electronically: g-xTB shows a +1.15 eV half-shell (gadolinium) break and 370× more f-shell structure than GFN2, reproducible across runs at r = +0.97.</a:t>
            </a:r>
          </a:p>
          <a:p>
            <a:pPr>
              <a:spcAft>
                <a:spcPts val="700"/>
              </a:spcAft>
              <a:defRPr sz="1700" b="1">
                <a:solidFill>
                  <a:srgbClr val="0E7A5F"/>
                </a:solidFill>
              </a:defRPr>
            </a:pPr>
            <a:r>
              <a:t>This is, to our knowledge, a new benchmark result: the geometries used across this field barely encode the lanthanide contraction at all.</a:t>
            </a:r>
          </a:p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Publishable independently of any machine-learning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The decisive negative: fixing the chemistry does not fix the score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We re-optimised all 956 complexes with g-xTB and re-trained — matched pairs, identical rows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178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737360"/>
                <a:gridCol w="1737360"/>
                <a:gridCol w="1554480"/>
              </a:tblGrid>
              <a:tr h="35661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Δ adjacent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g-xTB geometries (correct contraction) vs 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3/8 up, p = 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null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structures rebuilt in correspondence (455× less conformer noise)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−0.013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2/8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negative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conditions modulating the 3D embedding (FiLM)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−0.108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0/5 up, p = 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harmful</a:t>
                      </a:r>
                    </a:p>
                  </a:txBody>
                  <a:tcPr/>
                </a:tc>
              </a:tr>
              <a:tr h="356619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direct pair-difference head + reconciliation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−1.16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0/6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catastrophic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29000"/>
            <a:ext cx="11064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Four independent representation-side interventions, all null or harmful, all well powered.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One apparent positive (+0.033, p = 0.02, 7/8 seeds) dissolved under a scale-free check: rescaling the OLD geometry by a single constant recovered 237% of the 'gain'. It was prediction shrinkage, not information.</a:t>
            </a:r>
          </a:p>
          <a:p>
            <a:pPr>
              <a:spcAft>
                <a:spcPts val="700"/>
              </a:spcAft>
              <a:defRPr sz="1700" b="1">
                <a:solidFill>
                  <a:srgbClr val="A8322D"/>
                </a:solidFill>
              </a:defRPr>
            </a:pPr>
            <a:r>
              <a:t>Conclusion: geometric fidelity is not the bottleneck for this property. The information the models lack is not in the coordinates.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What actually moves the metric: the objective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The same loss change transfers across both encoder architectures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1453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  <a:gridCol w="1737360"/>
                <a:gridCol w="3383280"/>
              </a:tblGrid>
              <a:tr h="363473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Δ adjacent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/>
                </a:tc>
              </a:tr>
              <a:tr h="363473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contrast-loss weight 2 →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distance 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+0.0142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40 seeds that never selected it; p = 0.014; 95% CI [+0.003, +0.025]</a:t>
                      </a:r>
                    </a:p>
                  </a:txBody>
                  <a:tcPr/>
                </a:tc>
              </a:tr>
              <a:tr h="363473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contrast-loss weight 2 →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simplicial 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+0.0146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24 fresh seeds, p = 0.035 (campaign completing tonight)</a:t>
                      </a:r>
                    </a:p>
                  </a:txBody>
                  <a:tcPr/>
                </a:tc>
              </a:tr>
              <a:tr h="363476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tree loss RMSE → Quantile(0.6) + re-grid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2D 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+0.136 cumulative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held-out third: +0.016, passed pre-declared bar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E7A5F"/>
                </a:solidFill>
              </a:defRPr>
            </a:pPr>
            <a:r>
              <a:t>+0.0142 and +0.0146 on two different architectures, from disjoint seed sets, is the signature of a genuine objective-level effect — not an encoder artefact.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Interpretation: the models were optimising absolute log D while being scored on a within-block contrast. Every surviving gain in the project comes from aligning the loss with the contrast.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How much headroom remains — the metric is not noise-limited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Measured from 203 repeated (composition, adjacent-pair) determinations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59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383280"/>
              </a:tblGrid>
              <a:tr h="35204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scatter of log D within a (block, metal)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0.72 – 0.95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reproducibility of an adjacent SEPARATION across independent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0.153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spread of adjacent separations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0.224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implied ceiling on adjacent-pair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≈ +0.53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current best (this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500"/>
                      </a:pPr>
                      <a:r>
                        <a:t>+0.31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03320"/>
            <a:ext cx="11064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Condition effects are shared by the two metals of a pair and cancel on differencing — separations reproduce 6× tighter than the levels they are computed from.</a:t>
            </a:r>
          </a:p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We are at ~60% of what the labels permit. The remaining signal is not in geometry (~1% of pair variance under either Hamiltonian); candidates are conditions and direct pair modelling.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Methodological findings (the transferable part)</a:t>
            </a:r>
          </a:p>
          <a:p>
            <a:pPr>
              <a:defRPr sz="1500">
                <a:solidFill>
                  <a:srgbClr val="555A60"/>
                </a:solidFill>
              </a:defRPr>
            </a:pPr>
            <a:r>
              <a:t>Three false positives were caught and killed in one week — each by a specific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Power: the per-seed sd of a paired Δ is 0.0285, so 8-seed comparisons resolve only ~0.028. Three 'significant' gains at n = 4–8 dissolved on independent seeds. All confirmatory runs now use 24–32 seeds.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Scale-free check: on a negative-R² baseline, R² rises when predictions shrink toward the mean. Requiring Pearson² to agree in sign exposed a p = 0.02, 7/8-seed artefact.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Silent no-ops: five CLI flags were accepted, recorded as enabled, and ignored by the architecture that lacked them (--pair-head among them — never actually tested in the whole study until now). A capability gate now raises instead.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  <a:r>
              <a:t>Selection hygiene: axes that cleared +0.02 on screening data four times over all failed held-out. A config-histogram zero is not evidence a question is open — two of tonight's arms turned out to be axes already falsified.</a:t>
            </a:r>
          </a:p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Every confirmatory claim is pre-registered with its bar and the consequence of a null, committed before the data exists.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4A"/>
                </a:solidFill>
              </a:defRPr>
            </a:pPr>
            <a:r>
              <a:t>Summary — the three claims I will defend on the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1.  The 3D encoder is necessary for the best result, via complementarity: +0.313 with it, +0.291 without, largest stack weight — but it is no longer the strongest single model, and its marginal value shrinks as 2D partners improve.</a:t>
            </a:r>
          </a:p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2.  The 3D ceiling is a property of GFN2-xTB, not of the encoders: lanthanide parameters are linear in Z, the contraction is under-predicted 2.47×, and fixing the chemistry (g-xTB, within 8% of experiment) does NOT move the score. The chemistry result stands on its own.</a:t>
            </a:r>
          </a:p>
          <a:p>
            <a:pPr>
              <a:spcAft>
                <a:spcPts val="700"/>
              </a:spcAft>
              <a:defRPr sz="1700" b="1">
                <a:solidFill>
                  <a:srgbClr val="1A2E4A"/>
                </a:solidFill>
              </a:defRPr>
            </a:pPr>
            <a:r>
              <a:t>3.  The lever for this property is the objective, not the representation: every surviving gain came from aligning the loss with the scored contrast, and the effect transfers across architectures.</a:t>
            </a:r>
          </a:p>
          <a:p>
            <a:pPr>
              <a:spcAft>
                <a:spcPts val="700"/>
              </a:spcAft>
              <a:defRPr sz="1700" b="0">
                <a:solidFill>
                  <a:srgbClr val="22262A"/>
                </a:solidFill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555A60"/>
                </a:solidFill>
              </a:defRPr>
            </a:pPr>
            <a:r>
              <a:t>Open for discussion: a fresh held-out split for confirmatory numbers; whether the g-xTB benchmark merits a standalone paper; direct pair modelling as the route toward the +0.53 ceiling.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