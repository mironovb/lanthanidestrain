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Order: problem, data, evaluation, the 3D model + how it predicts, results, why capped, the chemistry benchmark, what moves the score,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Adjacent pairs (Nd/Pr, Dy/Tb) are the expensive separations. The schematic defines the predicted quantity. R2=0 already means predicting the average separation; best sign accuracy ~0.67.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SAFE: DOI-linked, condition-resolved; replicates across labs are real replicates (later gives the noise floor). 956 complexes; convergence force-checked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CV = no ligand leakage; replicate averaging inside blocks; ensembles scored out-of-fold. Step 2 walks a real TODGA block: the +1.6 offset on an unseen extractant cancels in the difference — why the metric differences within blocks. Per-seed sd of a paired delta 0.0285 -&gt; confirmatory runs use 24-32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conventional (no 3D input): boosted trees on 746 columns; fingerprint network. Third reads the optimised 3D structure (next two slides). Combination = per-extractant NNLS on the separation vectors, nested.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Panels are a REAL Dy complex from the shipped asset: its true 96 edges and 147 triangles at the 3.5 A training radius. Message passing: one donor's incoming messages highlighted. Readout is metal-centred by distance shell — without it the encoder cannot even identify the lanthanide (R2 0.016).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real Gd/TODGA row, end to end: the actual 864-number embedding (9 named readout blocks), the row's 746 tabular values, concatenate 1610, the real head, the model's real held-out prediction (+0.95 vs measured +2.42 — absolute log D of an unseen extractant is hard; differences are what is scored). Loss card: per-row Huber + within-block pair term (weight 2, adjacent x3) — term 2 is why it learns separations; the next slides change exactly that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Loss functions matter more than architectures. Rows: trees 0.278 (RMSE-&gt;quantile + re-tune; +0.016 confirmed held-out); fingerprint 0.221; best single 3D arm 0.266 (distance encoder with the new contrast weight; the simplicial ensemble is 0.239-&gt;0.243 with it); 2D stack 0.291; +3D 0.313, marginal +0.023, largest weight 0.46. Control row: same trees + 84 3D-derived descriptor columns COLLAPSES to -0.02 -&gt; the encoder is not replicable by cheap descriptors; over that stack its marginal is +0.041. Caveats aloud: strict key +0.010; 0.313 exploratory (no clean held-out partition remains -&gt; fresh split next).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method's own parameters vs Z: every lanthanide between the two circled anchors IS the straight line — panel 4 proves it for all 16 parameter families (deviations = the file's rounding). Grey band at Gd = where a real f-shell puts a break; GFN2 cannot, by construction. Empirical consequence already measured: eight 3D encoders statistically identical (r 0.986 = seed noise). The one number the geometry can carry is already a descriptor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observable: fixed ligand cage, swap the metal, re-relax, bond vs experimental radius; slope 1 = tracks reality. Inset: one adjacent step (Tb-Gd, 13 mA) -&gt; 5 mA response under GFN2 vs 15 mA under g-xTB — the physical signal an adjacent pair rides on, ~3x. This ligand is CN 8; fits use CN 8 radii.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Population version: GFN2 mean 0.41, mostly noise (23% cross-ligand reproducibility vs 96%); g-xTB 1.08, improving 71/71 ligands, p=5e-52; replicated in solvent. Novelty (web-checked): prior work scored per-complex bond errors vs DFT/X-ray (Bursch 2017; Ln-xTB 2026); the response slope vs EXPERIMENT had not been measured, and g-xTB had no lanthanide geometry validation at all. Obligation: read Ln-xTB in full; run it through this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Decisive: re-optimise all 956 complexes with g-xTB, retrain matched: +0.004 n.s. Cleaning conformer noise 455x: worse. Conditions into the representation: -0.108. What paid: quantile loss on trees (+0.136 cumulative) and the contrast weight 2-&gt;4 — final, pre-registered, both encoders, disjoint seeds, n=32 each: dist +0.0189 p=0.006, simplicial +0.0165 p=0.003, BOTH passing the scale-free anti-calibration check. Ceiling: separations reproduce to 0.153 on 0.224 spread -&gt; ~0.53; we are at 0.31; geometry ~1% of pair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time is short: S8 and S11 are the talk. Call order suggestion: S2 (2 min), S8 (5), S9-S11 (10), S12 (3),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106070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E4A"/>
                </a:solidFill>
              </a:defRPr>
            </a:pPr>
            <a:r>
              <a:t>Predicting adjacent-lanthanide selectivity from 3D structure</a:t>
            </a:r>
          </a:p>
          <a:p>
            <a:pPr>
              <a:defRPr sz="2000" b="0">
                <a:solidFill>
                  <a:srgbClr val="52514E"/>
                </a:solidFill>
              </a:defRPr>
            </a:pPr>
            <a:r>
              <a:t>What the data supports, and what limits it</a:t>
            </a:r>
          </a:p>
          <a:p>
            <a:pPr>
              <a:defRPr sz="1000" b="0">
                <a:solidFill>
                  <a:srgbClr val="52514E"/>
                </a:solidFill>
              </a:defRPr>
            </a:pPr>
          </a:p>
          <a:p>
            <a:pPr>
              <a:defRPr sz="1400" b="0">
                <a:solidFill>
                  <a:srgbClr val="52514E"/>
                </a:solidFill>
              </a:defRPr>
            </a:pPr>
            <a:r>
              <a:t>Bogdan Mironov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E4A"/>
                </a:solidFill>
              </a:defRPr>
            </a:pPr>
            <a:r>
              <a:t>The problem: separating neighbouring lanthanides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440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101214"/>
                </a:solidFill>
              </a:defRPr>
            </a:pPr>
            <a:r>
              <a:t>Rare earths are separated by liquid–liquid extraction with designed organic molecules (extractants). Neighbouring lanthanides are the hard case: their 3+ ions differ by ~0.013 Å in radius and in almost nothing else.</a:t>
            </a:r>
          </a:p>
          <a:p>
            <a:pPr>
              <a:spcAft>
                <a:spcPts val="700"/>
              </a:spcAft>
              <a:defRPr sz="1450">
                <a:solidFill>
                  <a:srgbClr val="101214"/>
                </a:solidFill>
              </a:defRPr>
            </a:pPr>
            <a:r>
              <a:t>We predict how well an extractant separates two neighbouring lanthanides — the difference in log D under identical conditions:</a:t>
            </a:r>
          </a:p>
        </p:txBody>
      </p:sp>
      <p:pic>
        <p:nvPicPr>
          <p:cNvPr id="4" name="Picture 3" descr="g1_p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87" y="2880360"/>
            <a:ext cx="9875520" cy="35451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E4A"/>
                </a:solidFill>
              </a:defRPr>
            </a:pPr>
            <a:r>
              <a:t>Data: a curated literature database, then quantum-chemistry structures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25880"/>
          <a:ext cx="10881360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595360"/>
              </a:tblGrid>
              <a:tr h="356616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SAFE database: 48,138 measurements · 31 elements · 181 publications, every row DOI-linked with full conditions (extractant, acid, diluent, concentrations, temperature)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350"/>
                      </a:pPr>
                      <a:r>
                        <a:t>modelled subset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/>
                      </a:pPr>
                      <a:r>
                        <a:t>4,746 measurements · 162 extractants · 14 lanthanides · target: log 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834640"/>
          <a:ext cx="1088136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743200"/>
                <a:gridCol w="5029200"/>
              </a:tblGrid>
              <a:tr h="333756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350"/>
                      </a:pPr>
                      <a:r>
                        <a:t>assemble the extraction 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/>
                      </a:pPr>
                      <a:r>
                        <a:t>Architector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/>
                      </a:pPr>
                      <a:r>
                        <a:t>3D structure guess per (extractant, lanthanide, nitrate/water fill), coordination number 8–9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350"/>
                      </a:pPr>
                      <a:r>
                        <a:t>relax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/>
                      </a:pPr>
                      <a:r>
                        <a:t>GFN2-xTB (tight-binding QM), water solvation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/>
                      </a:pPr>
                      <a:r>
                        <a:t>956 unique optimised complexes, convergence force-checked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350"/>
                      </a:pPr>
                      <a:r>
                        <a:t>descriptors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/>
                      </a:pPr>
                      <a:r>
                        <a:t>RDKit, fingerprints,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/>
                      </a:pPr>
                      <a:r>
                        <a:t>746-column table per measurement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E4A"/>
                </a:solidFill>
              </a:defRPr>
            </a:pPr>
            <a:r>
              <a:t>How every number in this talk is evaluated</a:t>
            </a:r>
          </a:p>
        </p:txBody>
      </p:sp>
      <p:pic>
        <p:nvPicPr>
          <p:cNvPr id="3" name="Picture 2" descr="g2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7" y="1234440"/>
            <a:ext cx="9692640" cy="57550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E4A"/>
                </a:solidFill>
              </a:defRPr>
            </a:pPr>
            <a:r>
              <a:t>Three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440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101214"/>
                </a:solidFill>
              </a:defRPr>
            </a:pPr>
            <a:r>
              <a:t>Model 1 — gradient-boosted trees (CatBoost) on the 746 descriptor columns. No 3D input.</a:t>
            </a:r>
          </a:p>
          <a:p>
            <a:pPr>
              <a:spcAft>
                <a:spcPts val="700"/>
              </a:spcAft>
              <a:defRPr sz="1550">
                <a:solidFill>
                  <a:srgbClr val="101214"/>
                </a:solidFill>
              </a:defRPr>
            </a:pPr>
            <a:r>
              <a:t>Model 2 — a neural network on molecular fingerprints. No 3D input.</a:t>
            </a:r>
          </a:p>
          <a:p>
            <a:pPr>
              <a:spcAft>
                <a:spcPts val="700"/>
              </a:spcAft>
              <a:defRPr sz="1550">
                <a:solidFill>
                  <a:srgbClr val="101214"/>
                </a:solidFill>
              </a:defRPr>
            </a:pPr>
            <a:r>
              <a:t>Model 3 — a network that reads the optimised 3D structure of the extraction complex itself (next slides).</a:t>
            </a:r>
          </a:p>
          <a:p>
            <a:pPr>
              <a:spcAft>
                <a:spcPts val="700"/>
              </a:spcAft>
              <a:defRPr sz="1550">
                <a:solidFill>
                  <a:srgbClr val="101214"/>
                </a:solidFill>
              </a:defRPr>
            </a:pPr>
          </a:p>
          <a:p>
            <a:pPr>
              <a:spcAft>
                <a:spcPts val="700"/>
              </a:spcAft>
              <a:defRPr sz="1550">
                <a:solidFill>
                  <a:srgbClr val="101214"/>
                </a:solidFill>
              </a:defRPr>
            </a:pPr>
            <a:r>
              <a:t>Each predicts log D per measurement; separations are differences of predictions inside a block. The final system is a weighted combination of the three, weights fitted per held-out extractant on the separations directly.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E4A"/>
                </a:solidFill>
              </a:defRPr>
            </a:pPr>
            <a:r>
              <a:t>Model 3: reading the 3D structure</a:t>
            </a:r>
          </a:p>
        </p:txBody>
      </p:sp>
      <p:pic>
        <p:nvPicPr>
          <p:cNvPr id="3" name="Picture 2" descr="g3_v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" y="1325880"/>
            <a:ext cx="11155680" cy="53163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E4A"/>
                </a:solidFill>
              </a:defRPr>
            </a:pPr>
            <a:r>
              <a:t>From structure to a number</a:t>
            </a:r>
          </a:p>
        </p:txBody>
      </p:sp>
      <p:pic>
        <p:nvPicPr>
          <p:cNvPr id="3" name="Picture 2" descr="g6_v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1234440"/>
            <a:ext cx="10881360" cy="56107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E4A"/>
                </a:solidFill>
              </a:defRPr>
            </a:pPr>
            <a: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0"/>
                <a:gridCol w="3017520"/>
              </a:tblGrid>
              <a:tr h="32395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 (adjacent-pair R², held-out extractants)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/>
                </a:tc>
              </a:tr>
              <a:tr h="32395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gradient-boosted trees, descriptors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0.278</a:t>
                      </a:r>
                    </a:p>
                  </a:txBody>
                  <a:tcPr/>
                </a:tc>
              </a:tr>
              <a:tr h="32395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fingerprint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0.221</a:t>
                      </a:r>
                    </a:p>
                  </a:txBody>
                  <a:tcPr/>
                </a:tc>
              </a:tr>
              <a:tr h="32395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best 3D structure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0.266</a:t>
                      </a:r>
                    </a:p>
                  </a:txBody>
                  <a:tcPr/>
                </a:tc>
              </a:tr>
              <a:tr h="32395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combination of the two conventional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0.291</a:t>
                      </a:r>
                    </a:p>
                  </a:txBody>
                  <a:tcPr/>
                </a:tc>
              </a:tr>
              <a:tr h="32395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combination including the 3D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0.313</a:t>
                      </a:r>
                    </a:p>
                  </a:txBody>
                  <a:tcPr/>
                </a:tc>
              </a:tr>
              <a:tr h="32396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control: trees + 84 3D-derived descriptor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−0.02  (collapses)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343400"/>
            <a:ext cx="11064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01214"/>
                </a:solidFill>
              </a:defRPr>
            </a:pPr>
            <a:r>
              <a:t>The 3D model adds +0.023 to the best conventional combination and carries the largest fitted weight (0.46). Handing the same 3D information to the trees as descriptors does not reproduce it — it subtracts.</a:t>
            </a:r>
          </a:p>
          <a:p>
            <a:pPr>
              <a:spcAft>
                <a:spcPts val="700"/>
              </a:spcAft>
              <a:defRPr sz="1350">
                <a:solidFill>
                  <a:srgbClr val="52514E"/>
                </a:solidFill>
              </a:defRPr>
            </a:pPr>
            <a:r>
              <a:t>Under stricter condition blocking the margin is +0.010; the 0.313 is exploratory until confirmed on a fresh held-out split.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E4A"/>
                </a:solidFill>
              </a:defRPr>
            </a:pPr>
            <a:r>
              <a:t>Why the 3D signal is capped: the quantum chemistry underneath</a:t>
            </a:r>
          </a:p>
        </p:txBody>
      </p:sp>
      <p:pic>
        <p:nvPicPr>
          <p:cNvPr id="3" name="Picture 2" descr="g4_pa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7" y="1280160"/>
            <a:ext cx="10607040" cy="48063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892040"/>
            <a:ext cx="11064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01214"/>
                </a:solidFill>
              </a:defRPr>
            </a:pPr>
            <a:r>
              <a:t>To GFN2-xTB, lanthanide identity is one number on a straight line — and that number is already a descriptor column (the Shannon ionic radius). Eight different 3D architectures give statistically identical predictions (correlation 0.986 = seed noise).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E4A"/>
                </a:solidFill>
              </a:defRPr>
            </a:pPr>
            <a:r>
              <a:t>Measuring what the structures get wrong: the contraction response</a:t>
            </a:r>
          </a:p>
        </p:txBody>
      </p:sp>
      <p:pic>
        <p:nvPicPr>
          <p:cNvPr id="3" name="Picture 2" descr="g5_slope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167" y="1280160"/>
            <a:ext cx="8595360" cy="47213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E4A"/>
                </a:solidFill>
              </a:defRPr>
            </a:pPr>
            <a:r>
              <a:t>Across 71 ligands: GFN2-xTB under-responds 2.5×; g-xTB gets it right</a:t>
            </a:r>
          </a:p>
        </p:txBody>
      </p:sp>
      <p:pic>
        <p:nvPicPr>
          <p:cNvPr id="3" name="Picture 2" descr="f5_cont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367" y="1280160"/>
            <a:ext cx="7680960" cy="35616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892040"/>
            <a:ext cx="11064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01214"/>
                </a:solidFill>
              </a:defRPr>
            </a:pPr>
            <a:r>
              <a:t>New in this measurement: published benchmarks score individual complexes against DFT or X-ray. The response to the contraction — the trend across the series, against experimental radii — had not been measured for any tight-binding method, and g-xTB's lanthanide geometries had never been tested (its paper validates energies).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E4A"/>
                </a:solidFill>
              </a:defRPr>
            </a:pPr>
            <a:r>
              <a:t>Fixing the structures does not fix the prediction — the loss function does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371600"/>
                <a:gridCol w="3840480"/>
                <a:gridCol w="1463040"/>
              </a:tblGrid>
              <a:tr h="33375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changing the structures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Δ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changing the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Δ score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g-xTB geometries (correct contraction physics)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+0.004 (n.s.)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trees: RMSE → quantile loss + re-tune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+0.136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conformer noise removed (455× cleaner series)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−0.013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contrast weight 2→4, distance encoder (32 seeds)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+0.019  p=0.006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conditions injected into the 3D representation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−0.108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same change, July-baseline simplicial model (32 seeds)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+0.017  p=0.003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429000"/>
            <a:ext cx="110642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01214"/>
                </a:solidFill>
              </a:defRPr>
            </a:pPr>
            <a:r>
              <a:t>Every structure-side improvement left the score unchanged or worse; every surviving gain came from aligning the training loss with the scored separation — the same change, on both encoders, from disjoint seed sets, passing the anti-calibration check (pre-registered).</a:t>
            </a:r>
          </a:p>
          <a:p>
            <a:pPr>
              <a:spcAft>
                <a:spcPts val="700"/>
              </a:spcAft>
              <a:defRPr sz="1400">
                <a:solidFill>
                  <a:srgbClr val="101214"/>
                </a:solidFill>
              </a:defRPr>
            </a:pPr>
            <a:r>
              <a:t>The labels support roughly R² ≈ 0.53 (repeat measurements of the same separation agree to 0.153 on a spread of 0.224). Current best: 0.31. Geometry explains about 1 % of the remaining variance.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E4A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440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101214"/>
                </a:solidFill>
              </a:defRPr>
            </a:pPr>
            <a:r>
              <a:t>1.  The best system includes the 3D structure model: 0.313 vs 0.291 without it, largest fitted weight — and its contribution is not reproducible by handing the trees 3D-derived descriptors (those collapse the model).</a:t>
            </a:r>
          </a:p>
          <a:p>
            <a:pPr>
              <a:spcAft>
                <a:spcPts val="700"/>
              </a:spcAft>
              <a:defRPr sz="1550">
                <a:solidFill>
                  <a:srgbClr val="101214"/>
                </a:solidFill>
              </a:defRPr>
            </a:pPr>
            <a:r>
              <a:t>2.  The ceiling on 3D is the quantum chemistry: GFN2-xTB carries no f-shell physics and under-responds to the lanthanide contraction 2.5×. Fixing the chemistry (g-xTB: within 8 %, 71/71 ligands, p = 5×10⁻⁵²) does not move the prediction — a new, standalone benchmark result.</a:t>
            </a:r>
          </a:p>
          <a:p>
            <a:pPr>
              <a:spcAft>
                <a:spcPts val="700"/>
              </a:spcAft>
              <a:defRPr sz="1550">
                <a:solidFill>
                  <a:srgbClr val="101214"/>
                </a:solidFill>
              </a:defRPr>
            </a:pPr>
            <a:r>
              <a:t>3.  What moved predictions was aligning the training loss with the scored separation — the one fully pre-registered positive: +0.019 / +0.017 on the two encoders, 32 disjoint seeds each, both passing the anti-calibration check.</a:t>
            </a:r>
          </a:p>
          <a:p>
            <a:pPr>
              <a:spcAft>
                <a:spcPts val="700"/>
              </a:spcAft>
              <a:defRPr sz="1550">
                <a:solidFill>
                  <a:srgbClr val="101214"/>
                </a:solidFill>
              </a:defRPr>
            </a:pPr>
          </a:p>
          <a:p>
            <a:pPr>
              <a:spcAft>
                <a:spcPts val="700"/>
              </a:spcAft>
              <a:defRPr sz="1550">
                <a:solidFill>
                  <a:srgbClr val="52514E"/>
                </a:solidFill>
              </a:defRPr>
            </a:pPr>
            <a:r>
              <a:t>Next: a fresh held-out split to confirm 0.313; the contraction benchmark as a paper (add Ln-xTB, Zhang 2026); predicting separations directly, toward the 0.53 the labels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