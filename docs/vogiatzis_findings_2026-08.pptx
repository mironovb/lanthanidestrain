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A2E4A"/>
                </a:solidFill>
              </a:defRPr>
            </a:pPr>
            <a:r>
              <a:t>Predicting Adjacent-Lanthanide Selectivity from 3D Structure</a:t>
            </a:r>
          </a:p>
          <a:p>
            <a:pPr>
              <a:defRPr sz="1900" b="0">
                <a:solidFill>
                  <a:srgbClr val="555A60"/>
                </a:solidFill>
              </a:defRPr>
            </a:pPr>
            <a:r>
              <a:t>Dataset, models, and complete findings — including where 3D helps and where it provably cannot</a:t>
            </a:r>
          </a:p>
          <a:p>
            <a:pPr>
              <a:defRPr sz="1200" b="0">
                <a:solidFill>
                  <a:srgbClr val="555A60"/>
                </a:solidFill>
              </a:defRPr>
            </a:pPr>
          </a:p>
          <a:p>
            <a:pPr>
              <a:defRPr sz="1500" b="0">
                <a:solidFill>
                  <a:srgbClr val="555A60"/>
                </a:solidFill>
              </a:defRPr>
            </a:pPr>
            <a:r>
              <a:t>Bogdan Mironov · prepared for discussion with Prof. K. Vogiatzis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Background: why adjacent lanthanides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The industrially hard case in rare-earth separations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Separating neighbouring lanthanides (Nd/Pr, Dy/Tb, …) is the bottleneck of rare-earth processing: liquid–liquid extraction with designed organic extractants is the industrial route.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physics is unforgiving: adjacent trivalent ions differ by ~0.013 Å in ionic radius — the lanthanide contraction — and by essentially nothing else a classical descriptor sees.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A model that predicts the DIFFERENCE in log D between two adjacent lanthanides under identical conditions would allow in-silico screening of extractants for a target pair.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Metric used throughout: R² of the predicted adjacent-pair log separation factor (905 pairs). Zero = no better than predicting the average separation for every pair.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Hypothesis under test since the project began: quantum-chemistry-derived 3D structure (Architector + GFN2-xTB), read by a topological encoder, carries selectivity information that 2D descriptors miss.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Data: the SAFE solvent-extraction database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Literature-curated, DOI-linked distribution-ratio measurements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content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raw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SAFE database: 48,138 curated measurements, 31 elements, 181 distinct publications (each row DOI-linked, with conditions)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per-row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extractant SMILES + concentration, acid + concentration, diluent, metal + oxidation state, temperature, phase modifiers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modelled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trivalent lanthanides with resolvable structures: 4,746 measurements · 162 extractants · 14 lanthanides (Pm absent in nature)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log D (distribution ratio, organic/aqueous)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Replicates are real replicates: the same (extractant, conditions, metal) measured in different labs/papers — later used to measure the label noise floor.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Grouping key for selectivity: a composition block = one extractant under one binned condition set; adjacent pairs are differenced within blocks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From SMILES to structure: the 3D compilation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6309360"/>
              </a:tblGrid>
              <a:tr h="3444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 complex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Architector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3D guess for each (extractant, Ln, anion/water fill) at chemically sensible coordination numbers (CN 8–9)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2. relaxation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GFN2-xTB (ALPB water)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956 unique optimised complexes; convergence force-checked independently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3. atom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xTB Mulliken 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per-atom partial charges; metal &amp; donor-atom flags; distances to metal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4. topological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Vietoris–Rips at 3.5 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nodes + edges + 2-simplices (triangles) per complex — the 3D encoder's input; no raw coordinates enter the network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5. tabular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RDKit · ECFP ·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746 columns: 2D descriptors, fingerprints, metal constants, 64 condition columns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Every result is leave-extractants-out CV (5 folds × 3 repeats): no ligand appears in both train and test. Ensembles of 16–32 seeds, scored out-of-fold.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The data at a glance</a:t>
            </a:r>
          </a:p>
        </p:txBody>
      </p:sp>
      <p:pic>
        <p:nvPicPr>
          <p:cNvPr id="3" name="Picture 2" descr="f1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1234440"/>
            <a:ext cx="7863840" cy="3518033"/>
          </a:xfrm>
          <a:prstGeom prst="rect">
            <a:avLst/>
          </a:prstGeom>
        </p:spPr>
      </p:pic>
      <p:pic>
        <p:nvPicPr>
          <p:cNvPr id="4" name="Picture 3" descr="f2_targ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7" y="3977639"/>
            <a:ext cx="9509760" cy="32689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Feature-space structure: why this problem is hard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PCA of the standardised 746-column matrix</a:t>
            </a:r>
          </a:p>
        </p:txBody>
      </p:sp>
      <p:pic>
        <p:nvPicPr>
          <p:cNvPr id="3" name="Picture 2" descr="f3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2753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A2E4A"/>
                </a:solidFill>
              </a:defRPr>
            </a:pPr>
            <a:r>
              <a:t>Left: lanthanide identity is invisible in feature space. Right: extractant families dominate. The model must generalise ACROSS the clusters while resolving a signal orthogonal to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Three model families, one combination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651760"/>
                <a:gridCol w="5212080"/>
              </a:tblGrid>
              <a:tr h="347472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gradient boosting (CatBoost)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746 tabular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strongest on absolute log D; loss function turned out to be decisive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fingerprint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ECFP + descriptors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scaling repair (quantile → standard) took it from 0.005 to 0.221 on pairs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Vietoris–Rips 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 rounds of message passing over nodes/edges/triangles; metal-centred distance-histogram pooling (without it, the encoder cannot even recover the lanthanide index: R² 0.016)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all three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weights fitted on PAIR vectors, nested per held-out extractant (NNLS)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pair-fitted combiner matters: fitting stack weights on rows hands 79% of the weight to the model best at levels and worst at pairs; fitting on the scored quantity was worth +0.056.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Your question: “constantly more accurate — am I right?”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The precise answer, before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Not constantly more accurate as a single model — that was true in July, and is no longer.</a:t>
            </a:r>
          </a:p>
          <a:p>
            <a:pPr lvl="1">
              <a:spcAft>
                <a:spcPts val="600"/>
              </a:spcAft>
              <a:defRPr sz="1400" b="0">
                <a:solidFill>
                  <a:srgbClr val="22262A"/>
                </a:solidFill>
              </a:defRPr>
            </a:pPr>
            <a:r>
              <a:t>With the right loss, gradient boosting on 2D descriptors now reaches 0.278 — above the 3D encoder alone (0.266) and above July's full combination (0.267).</a:t>
            </a:r>
          </a:p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But the best system still requires the 3D encoder.</a:t>
            </a:r>
          </a:p>
          <a:p>
            <a:pPr lvl="1">
              <a:spcAft>
                <a:spcPts val="600"/>
              </a:spcAft>
              <a:defRPr sz="1400" b="0">
                <a:solidFill>
                  <a:srgbClr val="22262A"/>
                </a:solidFill>
              </a:defRPr>
            </a:pPr>
            <a:r>
              <a:t>0.313 with it vs 0.291 without; the pair-fitted combiner gives the 3D arm the LARGEST weight of the three (0.46 vs 0.42 boosting, 0.11 fingerprint).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The claim I will defend: the 3D encoder contributes by complementarity — it corrects errors the 2D models share — and that contribution is real under the published blocking and shrinks under stricter blocking.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Results: July → today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Both improvements are objective-function changes; no architecture changed</a:t>
            </a:r>
          </a:p>
        </p:txBody>
      </p:sp>
      <p:pic>
        <p:nvPicPr>
          <p:cNvPr id="3" name="Picture 2" descr="f4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71600"/>
            <a:ext cx="8961120" cy="37511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Boosting: RMSE → MAE → Quantile(0.6) + hyperparameters re-tuned under that loss (+0.136 cumulative; +0.016 confirmed on a held-out third).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3D encoder: contrast-loss weight 2 → 4 (next slides). Fingerprint network unchanged.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The current best result, and its honest boundary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2743200"/>
                <a:gridCol w="2286000"/>
              </a:tblGrid>
              <a:tr h="3444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adjacent-pair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3D marginal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best 2D single model (tuned boosting)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2D stack (boosting + fingerprint net)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2D stack + 3D 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+0.023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same, strict condition key (1,417 pairs)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+0.210 vs +0.200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+0.010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published July stack (for reference)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+0.038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3D contribution SHRANK as partners improved (+0.038 → +0.023): complementarity means a stronger partner leaves less to correct. This was predicted by the error-correlation mechanism before it was observed.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Strict key = only the lanthanide varies within a block. The published +0.038 was already indistinguishable there; the honest statement is that the 3D gain lives partly in condition-binning.</a:t>
            </a:r>
          </a:p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Status: exploratory — both improved components were tuned on data inside this population, and every clean held-out partition is now spent. A fresh split is the next confirmatory step.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Why 3D contributes so little: the Hamiltonian, not the encoders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A property of GFN2-xTB's parameterisation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Every GFN2-xTB lanthanide parameter from Ce(58) to Lu(71) is linear interpolation between two fitted anchors (max residual 5×10⁻⁷ — the file's printed precision; documented by the method's authors).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Metal identity therefore enters every geometry as ONE scalar, linear in Z: no f-shell, no crystal field, no gadolinium break, no tetrad effect — by construction.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This retrodicts our strangest observation: eight different 3D encoders are mutually interchangeable — two architectures correlate at 0.986, the same as two seed-ensembles of one architecture (effective rank 1.05 of 8).</a:t>
            </a:r>
          </a:p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And that one scalar is already in the tabular block as the Shannon ionic radius — so any encoder reading these geometries is re-deriving a feature the models already have.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Quantified against experiment: GFN2 under-predicts the contraction 2.5×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g-xTB (Grimme 2025, f-electrons in valence) reproduces it — 71/71 ligands, p = 5×10⁻⁵²</a:t>
            </a:r>
          </a:p>
        </p:txBody>
      </p:sp>
      <p:pic>
        <p:nvPicPr>
          <p:cNvPr id="3" name="Picture 2" descr="f5_con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1325880"/>
            <a:ext cx="8412480" cy="39008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GFN2's per-ligand slope is also mostly noise: only 23% of its non-linear response is shared across ligands, vs 96% for g-xTB. Reproduced in implicit solvent and on an independent pilot.</a:t>
            </a:r>
          </a:p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To our knowledge a new benchmark result, publishable independently of any ML outcome.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The decisive negative: fixing the chemistry does not fix the score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All 956 complexes re-optimised with g-xTB; matched-pair training, identical rows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2377440"/>
                <a:gridCol w="210312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representation-side intervention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Δ adjacent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g-xTB geometries (correct contraction) vs shipped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+0.004 (p = 0.68)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null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structures rebuilt in correspondence (455× less conformer noise)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negative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conditions modulating the 3D embedding (FiLM)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−0.108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harmful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direct pair head + reconciliation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catastrophic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One apparent positive (+0.033, p = 0.02, 7/8 seeds) was exposed as prediction shrinkage: rescaling the OLD geometry by one constant recovered 237% of the 'gain'. R²-on-a-weak-baseline needs a scale-free check.</a:t>
            </a:r>
          </a:p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Conclusion: the information the models lack is not in the coordinates. Geometric fidelity is not the bottleneck for this property.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What does move the metric: aligning the loss with the scored contrast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The same change, two architectures, disjoint seed sets</a:t>
            </a:r>
          </a:p>
        </p:txBody>
      </p:sp>
      <p:pic>
        <p:nvPicPr>
          <p:cNvPr id="3" name="Picture 2" descr="f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25880"/>
            <a:ext cx="8229600" cy="3615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83480"/>
            <a:ext cx="110642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Up-weighting the within-block contrast term (weight 2 → 4): +0.0142 on the distance encoder (40 seeds, p = 0.014) and +0.0146 on the simplicial encoder (24 seeds, p = 0.035) — the signature of an objective-level effect, not an encoder artefact.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Cost: overall log D R² dips slightly (−0.015). This is a selectivity setting, not a free win.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Headroom: the labels support roughly +0.53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Condition effects cancel on differencing — separations reproduce 6× tighter than levels</a:t>
            </a:r>
          </a:p>
        </p:txBody>
      </p:sp>
      <p:pic>
        <p:nvPicPr>
          <p:cNvPr id="3" name="Picture 2" descr="f7_ce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71600"/>
            <a:ext cx="8961120" cy="3360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Raw log D scatter within a (block, metal) group is 0.72–0.95, but the same adjacent separation measured in independent blocks reproduces to 0.153 on a spread of 0.224 → ceiling ≈ +0.53.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We are at ~60% of the ceiling. Geometry explains ~1% of pair variance under either Hamiltonian; the remaining signal points at conditions and direct pair modelling.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Methodological findings — the transferable part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Three false positives were caught and killed in one week, each by a specific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Power: the per-seed sd of a paired Δ is 0.0285 — an 8-seed comparison resolves only ~0.028, while the true effects here are 0.01–0.02. All confirmatory runs now use 24–32 seeds; three n≤8 'significant' gains dissolved on independent seeds.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Scale-free check: on a weak baseline, R² rises when predictions shrink toward the mean. Requiring Pearson² to agree in sign killed a p = 0.02 artefact.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Silent no-ops: five CLI flags were accepted, recorded as enabled, and ignored by an architecture that lacked them — including the pair head, untested for the entire study without anyone knowing. A capability gate now raises instead.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Selection hygiene: every axis that cleared +0.02 on screening data (four of them) failed held-out. Pre-registration with the bar and the null-consequence committed before the data exists is now standard for every confirmatory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2E4A"/>
                </a:solidFill>
              </a:defRPr>
            </a:pPr>
            <a:r>
              <a:t>Summary — three claims, and what I'd like to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1.  The 3D encoder is necessary for the best result via complementarity (0.313 vs 0.291, largest stack weight) — but it is no longer the strongest single model, and its marginal value shrinks as 2D partners improve and under strict blocking.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2.  The 3D ceiling is a property of GFN2-xTB: lanthanide parameters linear in Z, contraction under-predicted 2.47×; fixing the chemistry (g-xTB, 8% of experiment, 71/71 ligands) does NOT move the score. The chemistry benchmark stands alone.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3.  The lever for selectivity is the objective, not the representation: every surviving gain came from aligning the loss with the scored contrast, and the effect transfers across architectures.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555A60"/>
                </a:solidFill>
              </a:defRPr>
            </a:pPr>
            <a:r>
              <a:t>To discuss:  (a) a fresh held-out split for confirmatory numbers;  (b) the g-xTB contraction benchmark as a standalone paper;  (c) direct pair modelling toward the +0.53 ceiling;  (d) whether VR-encoder complementarity merits a methods note given the strict-key 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