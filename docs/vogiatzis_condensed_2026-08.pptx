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parts: the modelling result Kostas asked about, the chemistry finding that explains its ceiling, and where the remaining signal is. All numbers are leave-extractants-out, out-of-fold.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SAFE is literature-curated; every row keeps its DOI and full conditions, so replicates across labs are real replicates (that later gives the noise floor). Modelled subset = trivalent lanthanides with buildable complexes; Pm absent in nature. Blocking: one extractant x one binned condition set; adjacent pairs are differenced inside blocks only. 956 complexes; convergence verified by an independent force check, not xtb's own flag.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Metric intuition: R2=0 already means predicting the average separation for every pair; adjacent radii differ by 0.013 A. PCA: winsorised at 4 sigma, PC1/2 = 19/8 percent. Left panel: metal colouring invisible = lanthanide identity is a vanishing direction. Right: extractant families are tight clusters (TODGA alone 1,553 rows). Generalisation must cross clusters while resolving a signal orthogonal to them. Per-seed sd of a paired delta is 0.0285 -&gt; confirmatory claims use 24-32 seeds.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His email numbers were the July column. Both gains are objective changes, no architecture changed: boosting RMSE-&gt;Quantile(0.6) + re-tuned depth/rsm (+0.016 of it confirmed on a held-out third); encoder contrast weight 2-&gt;4 (+0.014, replicates on both encoders). Control row: adding the 84 3D-derived tabular columns to the same CatBoost collapses it (-0.02); the stack then cuts that arm to weight 0.03 and the encoder marginal is +0.041. So the comparison is against the strongest tabular configuration, and cheap 3D descriptors do not replicate the encoder. Caveats to say aloud: contribution shrank from +0.038 as partners improved (complementarity mechanism); strict key halves it to +0.010 (published was already indistinguishable there); exploratory -- no clean held-out partition remains, fresh split is the next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Parameter file: every Ln parameter Ce-&gt;Lu is linear interpolation between two anchors, residual 5e-7 = printed precision; f-in-core is the authors' documented design. Consequence is ours: one scalar of metal information, linear in Z -- no f-shell, no gadolinium break. Empirical confirmation: 8 encoders, effective rank 1.05; two architectures correlate 0.986, same as two seeds of one. And the scalar is already the Shannon radius column.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Construction: one relaxed anchor per ligand family, substitute all 15 Ln, re-relax -- series in correspondence, slope clean of conformer noise. c_L = d&lt;M-donor&gt;/d r_Shannon, experiment = 1.00. GFN2 0.41 = 2.5x under; also mostly noise (23% cross-ligand reproducibility vs 96% for g-xTB). g-xTB improves 71/71 ligands, paired p = 5e-52; replicated in solvent. Novelty (checked against literature): Bursch 2017 and Ln-xTB 2026 report per-complex bond ERRORS vs DFT/X-ray; the contraction SLOPE vs experiment had not been measured, and g-xTB had no lanthanide geometry validation at all. Obligation: read Ln-xTB full text before submission; running the benchmark on Ln-xTB is the natural follow-up and our falsifying test. Punchline for next slide: this fixes the chemistry and the ML score does not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Left: four representation-side interventions, all null or harmful, all powered -- including re-optimising all 956 complexes with g-xTB. One apparent geometry positive (+0.033, p=0.02, 7/8 seeds) was calibration: one rescaling constant on the OLD geometry recovered 237% of it. Right: the objective changes that survived, including the same contrast-weight change transferring across architectures on disjoint seeds. Ceiling: naive noise math gives an impossible negative ceiling; condition effects cancel on differencing (separations reproduce to 0.153 on a 0.224 spread) -&gt; ~0.53, a lower bound. We are at ~60%. Remaining signal: conditions and direct pair modelling, not geometry (~1% of pair variance).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Suggested call order: S4 (5 min), S6 (10), S7 (5), then discussion. If very short: S4 and S6 are the talk. On the fresh split: all three prior partitions have been consumed by selection; this is the one thing needed before any publication-grade ML claim. On the paper: the benchmark stands alone, does not depend on any ML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10607040" cy="2194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2E4A"/>
                </a:solidFill>
              </a:defRPr>
            </a:pPr>
            <a:r>
              <a:t>Adjacent-lanthanide selectivity from 3D structure</a:t>
            </a:r>
          </a:p>
          <a:p>
            <a:pPr>
              <a:defRPr sz="2000" b="0">
                <a:solidFill>
                  <a:srgbClr val="52514E"/>
                </a:solidFill>
              </a:defRPr>
            </a:pPr>
            <a:r>
              <a:t>Data, models, and what limits them</a:t>
            </a:r>
          </a:p>
          <a:p>
            <a:pPr>
              <a:defRPr sz="1000" b="0">
                <a:solidFill>
                  <a:srgbClr val="52514E"/>
                </a:solidFill>
              </a:defRPr>
            </a:pPr>
          </a:p>
          <a:p>
            <a:pPr>
              <a:defRPr sz="1400" b="0">
                <a:solidFill>
                  <a:srgbClr val="52514E"/>
                </a:solidFill>
              </a:defRPr>
            </a:pPr>
            <a:r>
              <a:t>Bogdan Mironov ·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A2E4A"/>
                </a:solidFill>
              </a:defRPr>
            </a:pPr>
            <a:r>
              <a:t>Data: from curated literature to learnable objects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25880"/>
          <a:ext cx="1088136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503920"/>
              </a:tblGrid>
              <a:tr h="356616"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FFFFFF"/>
                          </a:solidFill>
                        </a:defRPr>
                      </a:pPr>
                      <a:r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FFFFFF"/>
                          </a:solidFill>
                        </a:defRPr>
                      </a:pPr>
                      <a:r>
                        <a:t>SAFE database: 48,138 measurements · 31 elements · 181 publications, each row DOI-linked with full conditions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modelled subset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4,746 measurements · 162 extractants · 14 lanthanides · target log D (distribution ratio)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788920"/>
          <a:ext cx="1088136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468880"/>
                <a:gridCol w="6126480"/>
              </a:tblGrid>
              <a:tr h="329184"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FFFFFF"/>
                          </a:solidFill>
                        </a:defRPr>
                      </a:pPr>
                      <a:r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FFFFFF"/>
                          </a:solidFill>
                        </a:defRPr>
                      </a:pPr>
                      <a: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FFFFFF"/>
                          </a:solidFill>
                        </a:defRPr>
                      </a:pPr>
                      <a:r>
                        <a:t>output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complex assembly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Architector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3D guess per (extractant, Ln, anion/water fill), CN 8–9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relaxation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GFN2-xTB, ALPB water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956 unique optimised complexes, force-checked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3D object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Vietoris–Rips, 3.5 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nodes, edges, triangles + xTB charges; no raw coordinates enter the network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tabular features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RDKit · ECFP · conditions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746 columns, incl. 64 condition columns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A2E4A"/>
                </a:solidFill>
              </a:defRPr>
            </a:pPr>
            <a:r>
              <a:t>The task, and why it is hard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440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01214"/>
                </a:solidFill>
              </a:defRPr>
            </a:pPr>
            <a:r>
              <a:t>Predict the difference in log D between adjacent lanthanides, same extractant and conditions (905 pairs). R² = 0 means predicting the average separation; adjacent ionic radii differ by 0.013 Å.</a:t>
            </a:r>
          </a:p>
          <a:p>
            <a:pPr>
              <a:spcAft>
                <a:spcPts val="600"/>
              </a:spcAft>
              <a:defRPr sz="1400">
                <a:solidFill>
                  <a:srgbClr val="101214"/>
                </a:solidFill>
              </a:defRPr>
            </a:pPr>
            <a:r>
              <a:t>Leave-extractants-out CV (5 folds × 3 repeats), 16–32-seed ensembles, scored out-of-fold.</a:t>
            </a:r>
          </a:p>
        </p:txBody>
      </p:sp>
      <p:pic>
        <p:nvPicPr>
          <p:cNvPr id="4" name="Picture 3" descr="f3_p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9527" y="2377440"/>
            <a:ext cx="9692640" cy="390681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A2E4A"/>
                </a:solidFill>
              </a:defRPr>
            </a:pPr>
            <a:r>
              <a:t>Results: what changed since July, and what the 3D encoder adds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24128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49440"/>
                <a:gridCol w="1645920"/>
                <a:gridCol w="1645920"/>
              </a:tblGrid>
              <a:tr h="323958"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FFFFFF"/>
                          </a:solidFill>
                        </a:defRPr>
                      </a:pPr>
                      <a:r>
                        <a:t>model (adjacent-pair R², LOEO)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FFFFFF"/>
                          </a:solidFill>
                        </a:defRPr>
                      </a:pPr>
                      <a:r>
                        <a:t>July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FFFFFF"/>
                          </a:solidFill>
                        </a:defRPr>
                      </a:pPr>
                      <a:r>
                        <a:t>today</a:t>
                      </a:r>
                    </a:p>
                  </a:txBody>
                  <a:tcPr/>
                </a:tc>
              </a:tr>
              <a:tr h="323958"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gradient boosting, 2D descriptors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0.142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0.278</a:t>
                      </a:r>
                    </a:p>
                  </a:txBody>
                  <a:tcPr/>
                </a:tc>
              </a:tr>
              <a:tr h="323958"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fingerprint network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0.221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0.221</a:t>
                      </a:r>
                    </a:p>
                  </a:txBody>
                  <a:tcPr/>
                </a:tc>
              </a:tr>
              <a:tr h="323958"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3D encoder (Vietoris–Rips, simplicial message passing)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0.238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0.266</a:t>
                      </a:r>
                    </a:p>
                  </a:txBody>
                  <a:tcPr/>
                </a:tc>
              </a:tr>
              <a:tr h="323958"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2D stack (boosting + fingerprint)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0.291</a:t>
                      </a:r>
                    </a:p>
                  </a:txBody>
                  <a:tcPr/>
                </a:tc>
              </a:tr>
              <a:tr h="323958"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2D stack + 3D encoder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0.267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0.313</a:t>
                      </a:r>
                    </a:p>
                  </a:txBody>
                  <a:tcPr/>
                </a:tc>
              </a:tr>
              <a:tr h="323964"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control: same boosting + 84 3D-derived tabular columns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−0.02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206240"/>
            <a:ext cx="11064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50">
                <a:solidFill>
                  <a:srgbClr val="101214"/>
                </a:solidFill>
              </a:defRPr>
            </a:pPr>
            <a:r>
              <a:t>The 3D encoder is no longer the strongest single model; the best system still needs it (largest stack weight, 0.46). Its value is correcting errors the 2D models share.</a:t>
            </a:r>
          </a:p>
          <a:p>
            <a:pPr>
              <a:spcAft>
                <a:spcPts val="600"/>
              </a:spcAft>
              <a:defRPr sz="1350">
                <a:solidFill>
                  <a:srgbClr val="52514E"/>
                </a:solidFill>
              </a:defRPr>
            </a:pPr>
            <a:r>
              <a:t>Tabular 3D descriptors do not replicate it — they subtract. Under strict condition blocking the marginal falls to +0.010; the +0.313 is exploratory (no clean held-out partition left).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A2E4A"/>
                </a:solidFill>
              </a:defRPr>
            </a:pPr>
            <a:r>
              <a:t>Why the 3D signal is capped: the Hamiltonian, not the encoders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440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50">
                <a:solidFill>
                  <a:srgbClr val="101214"/>
                </a:solidFill>
              </a:defRPr>
            </a:pPr>
            <a:r>
              <a:t>GFN2-xTB treats f-electrons in-core. Every lanthanide parameter from Ce to Lu is linear interpolation between two fitted anchors (residual 5×10⁻⁷).</a:t>
            </a:r>
          </a:p>
          <a:p>
            <a:pPr>
              <a:spcAft>
                <a:spcPts val="600"/>
              </a:spcAft>
              <a:defRPr sz="1550">
                <a:solidFill>
                  <a:srgbClr val="101214"/>
                </a:solidFill>
              </a:defRPr>
            </a:pPr>
            <a:r>
              <a:t>So metal identity enters every geometry as one scalar, linear in Z — no f-shell structure, no gadolinium break, no tetrad effect.</a:t>
            </a:r>
          </a:p>
          <a:p>
            <a:pPr>
              <a:spcAft>
                <a:spcPts val="600"/>
              </a:spcAft>
              <a:defRPr sz="1550">
                <a:solidFill>
                  <a:srgbClr val="101214"/>
                </a:solidFill>
              </a:defRPr>
            </a:pPr>
            <a:r>
              <a:t>Measured consequence: eight different 3D encoders are effectively identical (rank 1.05 of 8; cross-architecture correlation 0.986, equal to seed noise).</a:t>
            </a:r>
          </a:p>
          <a:p>
            <a:pPr>
              <a:spcAft>
                <a:spcPts val="600"/>
              </a:spcAft>
              <a:defRPr sz="1550">
                <a:solidFill>
                  <a:srgbClr val="101214"/>
                </a:solidFill>
              </a:defRPr>
            </a:pPr>
            <a:r>
              <a:t>That one scalar is already a tabular column: the Shannon ionic radius. An encoder reading these geometries re-derives a feature the models have.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A2E4A"/>
                </a:solidFill>
              </a:defRPr>
            </a:pPr>
            <a:r>
              <a:t>The chemistry, measured against experiment</a:t>
            </a:r>
          </a:p>
        </p:txBody>
      </p:sp>
      <p:pic>
        <p:nvPicPr>
          <p:cNvPr id="3" name="Picture 2" descr="f5_contra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927" y="1280160"/>
            <a:ext cx="7863840" cy="364644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92040"/>
            <a:ext cx="110642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50">
                <a:solidFill>
                  <a:srgbClr val="101214"/>
                </a:solidFill>
              </a:defRPr>
            </a:pPr>
            <a:r>
              <a:t>Prior work benchmarks per-complex bond errors against DFT or X-ray (Bursch 2017; Ln-xTB 2026). The contraction slope against experiment, and any lanthanide-geometry test of g-xTB, had not been done.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A2E4A"/>
                </a:solidFill>
              </a:defRPr>
            </a:pPr>
            <a:r>
              <a:t>What moves the score, and what does not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371600"/>
                <a:gridCol w="3931920"/>
                <a:gridCol w="1371600"/>
              </a:tblGrid>
              <a:tr h="329184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representation changes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Δ adj. 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objective changes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Δ adj. R²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g-xTB geometries (correct contraction)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+0.004 n.s.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boosting loss: RMSE → Quantile(0.6) + re-grid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+0.136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structures in correspondence (455× less noise)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−0.013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contrast weight 2 → 4, distance encoder (40 seeds)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+0.014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conditions modulating the embedding (FiLM)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−0.108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same change, simplicial encoder (24 seeds)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+0.015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direct pair head + reconciliation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−1.16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977639"/>
            <a:ext cx="1106424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01214"/>
                </a:solidFill>
              </a:defRPr>
            </a:pPr>
            <a:r>
              <a:t>Label ceiling ≈ +0.53 (repeated separations reproduce to 0.153 on a spread of 0.224); current best 0.31. Geometry explains about 1 % of pair variance under either Hamiltonian.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A2E4A"/>
                </a:solidFill>
              </a:defRPr>
            </a:pPr>
            <a:r>
              <a:t>Summary and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440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1214"/>
                </a:solidFill>
              </a:defRPr>
            </a:pPr>
            <a:r>
              <a:t>1.  The best system needs the 3D encoder: 0.313 with it, 0.291 without, largest stack weight. It is no longer the strongest single model; its value is complementarity, and tabular 3D descriptors cannot replace it.</a:t>
            </a:r>
          </a:p>
          <a:p>
            <a:pPr>
              <a:spcAft>
                <a:spcPts val="600"/>
              </a:spcAft>
              <a:defRPr sz="1600">
                <a:solidFill>
                  <a:srgbClr val="101214"/>
                </a:solidFill>
              </a:defRPr>
            </a:pPr>
            <a:r>
              <a:t>2.  The 3D ceiling belongs to GFN2-xTB, which under-predicts the lanthanide contraction 2.5×. g-xTB restores the chemistry (71/71 ligands, p = 5×10⁻⁵²) — and the score does not move. The benchmark is new and stands on its own.</a:t>
            </a:r>
          </a:p>
          <a:p>
            <a:pPr>
              <a:spcAft>
                <a:spcPts val="600"/>
              </a:spcAft>
              <a:defRPr sz="1600">
                <a:solidFill>
                  <a:srgbClr val="101214"/>
                </a:solidFill>
              </a:defRPr>
            </a:pPr>
            <a:r>
              <a:t>3.  Every gain that survived testing came from aligning the loss with the scored contrast, not from richer representations.</a:t>
            </a:r>
          </a:p>
          <a:p>
            <a:pPr>
              <a:spcAft>
                <a:spcPts val="600"/>
              </a:spcAft>
              <a:defRPr sz="1600">
                <a:solidFill>
                  <a:srgbClr val="101214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52514E"/>
                </a:solidFill>
              </a:defRPr>
            </a:pPr>
            <a:r>
              <a:t>Next: a fresh held-out split for confirmation; the contraction benchmark as a paper (add Ln-xTB, Zhang 2026); direct pair modelling toward the +0.53 ceiling.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